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56" r:id="rId1"/>
  </p:sldMasterIdLst>
  <p:notesMasterIdLst>
    <p:notesMasterId r:id="rId15"/>
  </p:notesMasterIdLst>
  <p:sldIdLst>
    <p:sldId id="301" r:id="rId2"/>
    <p:sldId id="289" r:id="rId3"/>
    <p:sldId id="287" r:id="rId4"/>
    <p:sldId id="282" r:id="rId5"/>
    <p:sldId id="283" r:id="rId6"/>
    <p:sldId id="284" r:id="rId7"/>
    <p:sldId id="285" r:id="rId8"/>
    <p:sldId id="286" r:id="rId9"/>
    <p:sldId id="293" r:id="rId10"/>
    <p:sldId id="302" r:id="rId11"/>
    <p:sldId id="303" r:id="rId12"/>
    <p:sldId id="305" r:id="rId13"/>
    <p:sldId id="30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45BE"/>
    <a:srgbClr val="2124B1"/>
    <a:srgbClr val="F2F2F2"/>
    <a:srgbClr val="001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61"/>
    <p:restoredTop sz="94752"/>
  </p:normalViewPr>
  <p:slideViewPr>
    <p:cSldViewPr snapToGrid="0">
      <p:cViewPr varScale="1">
        <p:scale>
          <a:sx n="110" d="100"/>
          <a:sy n="110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4B91A-72A9-B746-8333-2FA5FC6CFB31}" type="datetimeFigureOut">
              <a:rPr lang="en-PT" smtClean="0"/>
              <a:t>27/05/2025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ED33C4-5F65-AF42-9574-08D065DF93A2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745943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07683-FDDF-0E41-97AF-7FE8BADDF8C3}" type="datetime1">
              <a:rPr lang="en-US" smtClean="0"/>
              <a:t>5/27/25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373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EE84C-2563-3B48-9CEC-CB59DA91CEDB}" type="datetime1">
              <a:rPr lang="en-US" smtClean="0"/>
              <a:t>5/27/25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02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9EDED-19E4-9042-84B9-9ED7FFEBA0C7}" type="datetime1">
              <a:rPr lang="en-US" smtClean="0"/>
              <a:t>5/27/25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53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5D98-91B6-6E4D-B201-BFF489D082E4}" type="datetime1">
              <a:rPr lang="en-US" smtClean="0"/>
              <a:t>5/27/25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589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E6BB4-8CBE-6C48-9E64-63BA73C4C3A8}" type="datetime1">
              <a:rPr lang="en-US" smtClean="0"/>
              <a:t>5/27/25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74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52CC-758A-FE4B-AC0A-77CADA7A47E1}" type="datetime1">
              <a:rPr lang="en-US" smtClean="0"/>
              <a:t>5/27/25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72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2E31-C02F-CB4F-A75B-C397714ED712}" type="datetime1">
              <a:rPr lang="en-US" smtClean="0"/>
              <a:t>5/27/25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627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4DD23-A930-A14C-AB71-76AB0B5111FC}" type="datetime1">
              <a:rPr lang="en-US" smtClean="0"/>
              <a:t>5/27/25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1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94BE012-E46F-EB41-BE4B-BE928EE1C5E9}" type="datetime1">
              <a:rPr lang="en-US" smtClean="0"/>
              <a:t>5/27/25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89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3E13-A5E8-1D47-97E7-47E2AC31CCC0}" type="datetime1">
              <a:rPr lang="en-US" smtClean="0"/>
              <a:t>5/27/25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52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0E36-1A64-D94E-8E32-08A61B3EC20C}" type="datetime1">
              <a:rPr lang="en-US" smtClean="0"/>
              <a:t>5/27/25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49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934837A-06FA-3744-8AC1-6BE232BED62A}" type="datetime1">
              <a:rPr lang="en-US" smtClean="0"/>
              <a:t>5/27/25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17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281/zenodo.15231163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lupa-digital.pt/" TargetMode="External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zenodo.org/records/1523116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hyperlink" Target="https://lupa-digital.pt/" TargetMode="External"/><Relationship Id="rId7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magnifying glass and a magnifying glass&#10;&#10;AI-generated content may be incorrect.">
            <a:extLst>
              <a:ext uri="{FF2B5EF4-FFF2-40B4-BE49-F238E27FC236}">
                <a16:creationId xmlns:a16="http://schemas.microsoft.com/office/drawing/2014/main" id="{54D92A6B-B79E-2595-F8C2-FB2126BD9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64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60A419-3349-3BE9-9E10-9B34659CC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3436" y="2538239"/>
            <a:ext cx="4270248" cy="704087"/>
          </a:xfrm>
        </p:spPr>
        <p:txBody>
          <a:bodyPr>
            <a:normAutofit/>
          </a:bodyPr>
          <a:lstStyle/>
          <a:p>
            <a:r>
              <a:rPr lang="en-PT" sz="2400" b="1" dirty="0">
                <a:solidFill>
                  <a:srgbClr val="2124B1"/>
                </a:solidFill>
                <a:latin typeface="Montserrat" pitchFamily="2" charset="77"/>
              </a:rPr>
              <a:t>O problema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B87E8-5DEB-D6D8-5DBB-F5953BA93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9620" y="3423472"/>
            <a:ext cx="4474063" cy="259677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pt-PT" noProof="0" dirty="0">
                <a:latin typeface="Montserrat" pitchFamily="2" charset="77"/>
              </a:rPr>
              <a:t>Explosão de informação digital dificulta a identificação de padrões, fontes</a:t>
            </a:r>
            <a:br>
              <a:rPr lang="pt-PT" noProof="0" dirty="0">
                <a:latin typeface="Montserrat" pitchFamily="2" charset="77"/>
              </a:rPr>
            </a:br>
            <a:r>
              <a:rPr lang="pt-PT" noProof="0" dirty="0">
                <a:latin typeface="Montserrat" pitchFamily="2" charset="77"/>
              </a:rPr>
              <a:t>e tendências.</a:t>
            </a:r>
          </a:p>
          <a:p>
            <a:pPr>
              <a:lnSpc>
                <a:spcPct val="150000"/>
              </a:lnSpc>
            </a:pPr>
            <a:r>
              <a:rPr lang="pt-PT" noProof="0" dirty="0">
                <a:latin typeface="Montserrat" pitchFamily="2" charset="77"/>
              </a:rPr>
              <a:t>Falta de ferramentas acessíveis para análise escalável e transparente do discurso público.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8DD39-5DD5-59F3-BA73-77FAA5815A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8316" y="3423472"/>
            <a:ext cx="4786366" cy="259677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pt-PT" noProof="0" dirty="0">
                <a:latin typeface="Montserrat" pitchFamily="2" charset="77"/>
              </a:rPr>
              <a:t>Criar uma plataforma de metajornalismo inteligente, interativa e intuitiva.</a:t>
            </a:r>
          </a:p>
          <a:p>
            <a:pPr>
              <a:lnSpc>
                <a:spcPct val="160000"/>
              </a:lnSpc>
            </a:pPr>
            <a:r>
              <a:rPr lang="pt-PT" noProof="0" dirty="0">
                <a:latin typeface="Montserrat" pitchFamily="2" charset="77"/>
              </a:rPr>
              <a:t>Analisar padrões jornalísticos em larga escala.</a:t>
            </a:r>
          </a:p>
          <a:p>
            <a:pPr>
              <a:lnSpc>
                <a:spcPct val="160000"/>
              </a:lnSpc>
            </a:pPr>
            <a:r>
              <a:rPr lang="pt-PT" noProof="0" dirty="0">
                <a:latin typeface="Montserrat" pitchFamily="2" charset="77"/>
              </a:rPr>
              <a:t>Articular ciência de dados, jornalismo</a:t>
            </a:r>
            <a:br>
              <a:rPr lang="pt-PT" noProof="0" dirty="0">
                <a:latin typeface="Montserrat" pitchFamily="2" charset="77"/>
              </a:rPr>
            </a:br>
            <a:r>
              <a:rPr lang="pt-PT" noProof="0" dirty="0">
                <a:latin typeface="Montserrat" pitchFamily="2" charset="77"/>
              </a:rPr>
              <a:t>e ciência da informação.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62402A-42D7-709E-6C1C-5C819113F1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8316" y="2538239"/>
            <a:ext cx="4270248" cy="704087"/>
          </a:xfrm>
        </p:spPr>
        <p:txBody>
          <a:bodyPr>
            <a:normAutofit/>
          </a:bodyPr>
          <a:lstStyle/>
          <a:p>
            <a:r>
              <a:rPr lang="en-PT" sz="2400" b="1" dirty="0">
                <a:solidFill>
                  <a:srgbClr val="2124B1"/>
                </a:solidFill>
                <a:latin typeface="Montserrat" pitchFamily="2" charset="77"/>
              </a:rPr>
              <a:t>A proposta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CE6D9-E4EC-8AC4-4D45-200E6FB6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>
                <a:latin typeface="Montserrat" pitchFamily="2" charset="77"/>
              </a:rPr>
              <a:t>2</a:t>
            </a:fld>
            <a:endParaRPr lang="en-US" dirty="0">
              <a:latin typeface="Montserrat" pitchFamily="2" charset="77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544AFF5-D6CF-6C16-E4B4-B65D3331AA1A}"/>
              </a:ext>
            </a:extLst>
          </p:cNvPr>
          <p:cNvSpPr/>
          <p:nvPr/>
        </p:nvSpPr>
        <p:spPr>
          <a:xfrm>
            <a:off x="0" y="1"/>
            <a:ext cx="12192000" cy="1538344"/>
          </a:xfrm>
          <a:prstGeom prst="rect">
            <a:avLst/>
          </a:prstGeom>
          <a:solidFill>
            <a:srgbClr val="2124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2124B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1C8BB48-9FC7-0DE6-B615-BBF7F0A5D301}"/>
              </a:ext>
            </a:extLst>
          </p:cNvPr>
          <p:cNvSpPr txBox="1">
            <a:spLocks/>
          </p:cNvSpPr>
          <p:nvPr/>
        </p:nvSpPr>
        <p:spPr>
          <a:xfrm>
            <a:off x="432257" y="548762"/>
            <a:ext cx="10326665" cy="440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dirty="0">
                <a:solidFill>
                  <a:srgbClr val="F2F2F2"/>
                </a:solidFill>
                <a:latin typeface="Montserrat" pitchFamily="2" charset="77"/>
              </a:rPr>
              <a:t>ENQUADRAMENTO</a:t>
            </a:r>
            <a:endParaRPr lang="en-PT" sz="4000" dirty="0">
              <a:solidFill>
                <a:srgbClr val="F2F2F2"/>
              </a:solidFill>
              <a:latin typeface="Montserrat" pitchFamily="2" charset="77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8BBC09-565C-B300-6E6D-A65994E1BF5B}"/>
              </a:ext>
            </a:extLst>
          </p:cNvPr>
          <p:cNvSpPr/>
          <p:nvPr/>
        </p:nvSpPr>
        <p:spPr>
          <a:xfrm>
            <a:off x="10209277" y="-311159"/>
            <a:ext cx="1550466" cy="1577602"/>
          </a:xfrm>
          <a:prstGeom prst="ellipse">
            <a:avLst/>
          </a:prstGeom>
          <a:solidFill>
            <a:srgbClr val="4245BE"/>
          </a:solidFill>
          <a:ln>
            <a:solidFill>
              <a:srgbClr val="424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noFill/>
            </a:endParaRPr>
          </a:p>
        </p:txBody>
      </p:sp>
      <p:pic>
        <p:nvPicPr>
          <p:cNvPr id="11" name="Imagem 10" descr="Uma imagem com Gráficos, círculo, Saturação de cores, design&#10;&#10;Os conteúdos gerados por IA podem estar incorretos.">
            <a:extLst>
              <a:ext uri="{FF2B5EF4-FFF2-40B4-BE49-F238E27FC236}">
                <a16:creationId xmlns:a16="http://schemas.microsoft.com/office/drawing/2014/main" id="{7F2C4EA8-E513-C880-F744-25837F7F5E8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biLevel thresh="25000"/>
            <a:alphaModFix amt="20000"/>
          </a:blip>
          <a:stretch>
            <a:fillRect/>
          </a:stretch>
        </p:blipFill>
        <p:spPr>
          <a:xfrm rot="10800000">
            <a:off x="9328834" y="-573554"/>
            <a:ext cx="1946257" cy="1946257"/>
          </a:xfrm>
          <a:prstGeom prst="rect">
            <a:avLst/>
          </a:prstGeom>
          <a:noFill/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00D3DB0A-64D3-6FB9-2F25-B8AA18A8D2C9}"/>
              </a:ext>
            </a:extLst>
          </p:cNvPr>
          <p:cNvSpPr/>
          <p:nvPr/>
        </p:nvSpPr>
        <p:spPr>
          <a:xfrm rot="16200000">
            <a:off x="881226" y="816300"/>
            <a:ext cx="73128" cy="674616"/>
          </a:xfrm>
          <a:prstGeom prst="rect">
            <a:avLst/>
          </a:prstGeom>
          <a:solidFill>
            <a:srgbClr val="4245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4245BE"/>
              </a:solidFill>
            </a:endParaRPr>
          </a:p>
        </p:txBody>
      </p:sp>
      <p:pic>
        <p:nvPicPr>
          <p:cNvPr id="13" name="Imagem 12" descr="Uma imagem com Gráficos, clipart, símbolo, design gráfico&#10;&#10;Os conteúdos gerados por IA podem estar incorretos.">
            <a:extLst>
              <a:ext uri="{FF2B5EF4-FFF2-40B4-BE49-F238E27FC236}">
                <a16:creationId xmlns:a16="http://schemas.microsoft.com/office/drawing/2014/main" id="{FC4D846A-483E-453A-4643-37C7C5D33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68816" y="1987957"/>
            <a:ext cx="1254369" cy="1254369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7DAEA556-E78A-EA97-931D-0E32613BD780}"/>
              </a:ext>
            </a:extLst>
          </p:cNvPr>
          <p:cNvSpPr/>
          <p:nvPr/>
        </p:nvSpPr>
        <p:spPr>
          <a:xfrm rot="16200000">
            <a:off x="2327967" y="2579260"/>
            <a:ext cx="67765" cy="246584"/>
          </a:xfrm>
          <a:prstGeom prst="rect">
            <a:avLst/>
          </a:prstGeom>
          <a:solidFill>
            <a:srgbClr val="4245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4245BE"/>
              </a:solidFill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D3D79B0-657E-0962-10F2-E4AD136E56E5}"/>
              </a:ext>
            </a:extLst>
          </p:cNvPr>
          <p:cNvSpPr/>
          <p:nvPr/>
        </p:nvSpPr>
        <p:spPr>
          <a:xfrm>
            <a:off x="2238557" y="2668670"/>
            <a:ext cx="69604" cy="238314"/>
          </a:xfrm>
          <a:prstGeom prst="rect">
            <a:avLst/>
          </a:prstGeom>
          <a:solidFill>
            <a:srgbClr val="4245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4245BE"/>
              </a:solidFill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FFB99DC-A64C-6C65-91F2-0CBA5E57E921}"/>
              </a:ext>
            </a:extLst>
          </p:cNvPr>
          <p:cNvSpPr/>
          <p:nvPr/>
        </p:nvSpPr>
        <p:spPr>
          <a:xfrm>
            <a:off x="9814903" y="2668670"/>
            <a:ext cx="69604" cy="238314"/>
          </a:xfrm>
          <a:prstGeom prst="rect">
            <a:avLst/>
          </a:prstGeom>
          <a:solidFill>
            <a:srgbClr val="4245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4245BE"/>
              </a:solidFill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1704131-B0C3-9D49-5398-5694C895626E}"/>
              </a:ext>
            </a:extLst>
          </p:cNvPr>
          <p:cNvSpPr/>
          <p:nvPr/>
        </p:nvSpPr>
        <p:spPr>
          <a:xfrm rot="16200000">
            <a:off x="9730548" y="2584314"/>
            <a:ext cx="69604" cy="238314"/>
          </a:xfrm>
          <a:prstGeom prst="rect">
            <a:avLst/>
          </a:prstGeom>
          <a:solidFill>
            <a:srgbClr val="4245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4245B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432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DDB46-8B42-F49D-63FF-0AF871592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>
                <a:latin typeface="Montserrat" pitchFamily="2" charset="77"/>
              </a:rPr>
              <a:pPr/>
              <a:t>3</a:t>
            </a:fld>
            <a:endParaRPr lang="en-US" dirty="0">
              <a:latin typeface="Montserrat" pitchFamily="2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48C24F-6F62-504E-4EBB-0EB8C492C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60" y="2395614"/>
            <a:ext cx="4268263" cy="2747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C1BA2C-E03B-3A61-372C-91A506567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579" y="2433233"/>
            <a:ext cx="4268263" cy="274779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60F3EC-39F4-C402-F4CD-631DACD7F1BE}"/>
              </a:ext>
            </a:extLst>
          </p:cNvPr>
          <p:cNvSpPr txBox="1">
            <a:spLocks/>
          </p:cNvSpPr>
          <p:nvPr/>
        </p:nvSpPr>
        <p:spPr>
          <a:xfrm>
            <a:off x="1722111" y="5166042"/>
            <a:ext cx="2634736" cy="440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T" sz="1700" b="1" dirty="0">
                <a:latin typeface="Montserrat" pitchFamily="2" charset="77"/>
              </a:rPr>
              <a:t>5 empresas</a:t>
            </a:r>
            <a:r>
              <a:rPr lang="en-PT" sz="1700" dirty="0">
                <a:latin typeface="Montserrat" pitchFamily="2" charset="77"/>
              </a:rPr>
              <a:t> do PSI-20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58391C1-EE2A-F784-C173-600EBA492A7F}"/>
              </a:ext>
            </a:extLst>
          </p:cNvPr>
          <p:cNvSpPr txBox="1">
            <a:spLocks/>
          </p:cNvSpPr>
          <p:nvPr/>
        </p:nvSpPr>
        <p:spPr>
          <a:xfrm>
            <a:off x="7943830" y="5200768"/>
            <a:ext cx="2479760" cy="440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T" sz="1700" b="1" dirty="0">
                <a:latin typeface="Montserrat" pitchFamily="2" charset="77"/>
              </a:rPr>
              <a:t>1 457 234 </a:t>
            </a:r>
            <a:r>
              <a:rPr lang="en-PT" sz="1700" dirty="0">
                <a:latin typeface="Montserrat" pitchFamily="2" charset="77"/>
              </a:rPr>
              <a:t>tópicos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09C8490-470B-5E2F-7C72-1CC3224638FF}"/>
              </a:ext>
            </a:extLst>
          </p:cNvPr>
          <p:cNvSpPr txBox="1">
            <a:spLocks/>
          </p:cNvSpPr>
          <p:nvPr/>
        </p:nvSpPr>
        <p:spPr>
          <a:xfrm>
            <a:off x="2257937" y="5777099"/>
            <a:ext cx="8165653" cy="440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700" dirty="0">
                <a:latin typeface="Montserrat" pitchFamily="2" charset="77"/>
              </a:rPr>
              <a:t>P</a:t>
            </a:r>
            <a:r>
              <a:rPr lang="en-PT" sz="1700" dirty="0">
                <a:latin typeface="Montserrat" pitchFamily="2" charset="77"/>
              </a:rPr>
              <a:t>erceção do potencial de generalização para qualquer tópico noticioso.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5525814-9A7E-0F3D-E44C-F9B4EB097DEF}"/>
              </a:ext>
            </a:extLst>
          </p:cNvPr>
          <p:cNvSpPr/>
          <p:nvPr/>
        </p:nvSpPr>
        <p:spPr>
          <a:xfrm>
            <a:off x="0" y="1"/>
            <a:ext cx="12192000" cy="1538344"/>
          </a:xfrm>
          <a:prstGeom prst="rect">
            <a:avLst/>
          </a:prstGeom>
          <a:solidFill>
            <a:srgbClr val="2124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2124B1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6400962-4269-4F69-DD09-3EA549F8F51F}"/>
              </a:ext>
            </a:extLst>
          </p:cNvPr>
          <p:cNvSpPr txBox="1">
            <a:spLocks/>
          </p:cNvSpPr>
          <p:nvPr/>
        </p:nvSpPr>
        <p:spPr>
          <a:xfrm>
            <a:off x="432257" y="548762"/>
            <a:ext cx="10326665" cy="440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dirty="0">
                <a:solidFill>
                  <a:srgbClr val="F2F2F2"/>
                </a:solidFill>
                <a:latin typeface="Montserrat" pitchFamily="2" charset="77"/>
              </a:rPr>
              <a:t>MOTIVAÇÃO</a:t>
            </a:r>
            <a:endParaRPr lang="en-PT" sz="4000" dirty="0">
              <a:solidFill>
                <a:srgbClr val="F2F2F2"/>
              </a:solidFill>
              <a:latin typeface="Montserrat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4FE6CCD-0B59-5EE0-1AB4-B76FD43F2141}"/>
              </a:ext>
            </a:extLst>
          </p:cNvPr>
          <p:cNvSpPr/>
          <p:nvPr/>
        </p:nvSpPr>
        <p:spPr>
          <a:xfrm>
            <a:off x="10209277" y="-311159"/>
            <a:ext cx="1550466" cy="1577602"/>
          </a:xfrm>
          <a:prstGeom prst="ellipse">
            <a:avLst/>
          </a:prstGeom>
          <a:solidFill>
            <a:srgbClr val="4245BE"/>
          </a:solidFill>
          <a:ln>
            <a:solidFill>
              <a:srgbClr val="424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noFill/>
            </a:endParaRPr>
          </a:p>
        </p:txBody>
      </p:sp>
      <p:pic>
        <p:nvPicPr>
          <p:cNvPr id="19" name="Imagem 18" descr="Uma imagem com Gráficos, círculo, Saturação de cores, design&#10;&#10;Os conteúdos gerados por IA podem estar incorretos.">
            <a:extLst>
              <a:ext uri="{FF2B5EF4-FFF2-40B4-BE49-F238E27FC236}">
                <a16:creationId xmlns:a16="http://schemas.microsoft.com/office/drawing/2014/main" id="{49E527A1-967C-37EB-8494-0BE24651E8B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biLevel thresh="25000"/>
            <a:alphaModFix amt="20000"/>
          </a:blip>
          <a:stretch>
            <a:fillRect/>
          </a:stretch>
        </p:blipFill>
        <p:spPr>
          <a:xfrm rot="10800000">
            <a:off x="9328834" y="-573554"/>
            <a:ext cx="1946257" cy="1946257"/>
          </a:xfrm>
          <a:prstGeom prst="rect">
            <a:avLst/>
          </a:prstGeom>
          <a:noFill/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288315F5-90B9-F298-E6E8-271EC3324063}"/>
              </a:ext>
            </a:extLst>
          </p:cNvPr>
          <p:cNvSpPr/>
          <p:nvPr/>
        </p:nvSpPr>
        <p:spPr>
          <a:xfrm rot="16200000">
            <a:off x="881226" y="816300"/>
            <a:ext cx="73128" cy="674616"/>
          </a:xfrm>
          <a:prstGeom prst="rect">
            <a:avLst/>
          </a:prstGeom>
          <a:solidFill>
            <a:srgbClr val="4245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4245B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972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F2BC-4C1D-EC49-4535-435A9A9F0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B3DAE8E7-59B5-8038-D3C0-FD837BEE9EB9}"/>
              </a:ext>
            </a:extLst>
          </p:cNvPr>
          <p:cNvSpPr txBox="1">
            <a:spLocks/>
          </p:cNvSpPr>
          <p:nvPr/>
        </p:nvSpPr>
        <p:spPr>
          <a:xfrm>
            <a:off x="8288569" y="3738677"/>
            <a:ext cx="3366929" cy="8603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540"/>
              </a:lnSpc>
              <a:buFont typeface="Arial" panose="020B0604020202020204" pitchFamily="34" charset="0"/>
              <a:buNone/>
            </a:pPr>
            <a:r>
              <a:rPr lang="pt-PT" sz="1700" b="1" noProof="0" dirty="0">
                <a:latin typeface="Montserrat" pitchFamily="2" charset="77"/>
              </a:rPr>
              <a:t>3 056 418 </a:t>
            </a:r>
            <a:r>
              <a:rPr lang="pt-PT" sz="1700" noProof="0" dirty="0" err="1">
                <a:latin typeface="Montserrat" pitchFamily="2" charset="77"/>
              </a:rPr>
              <a:t>URLs</a:t>
            </a:r>
            <a:r>
              <a:rPr lang="pt-PT" sz="1700" noProof="0" dirty="0">
                <a:latin typeface="Montserrat" pitchFamily="2" charset="77"/>
              </a:rPr>
              <a:t>,</a:t>
            </a:r>
            <a:br>
              <a:rPr lang="pt-PT" sz="1700" noProof="0" dirty="0">
                <a:latin typeface="Montserrat" pitchFamily="2" charset="77"/>
              </a:rPr>
            </a:br>
            <a:r>
              <a:rPr lang="pt-PT" sz="1700" noProof="0" dirty="0">
                <a:latin typeface="Montserrat" pitchFamily="2" charset="77"/>
              </a:rPr>
              <a:t>desde 1998 até à atualidade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572EC-6625-0E9E-157D-3C64FA04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pt-PT" noProof="0" smtClean="0">
                <a:latin typeface="Montserrat" pitchFamily="2" charset="77"/>
              </a:rPr>
              <a:pPr/>
              <a:t>4</a:t>
            </a:fld>
            <a:endParaRPr lang="pt-PT" noProof="0" dirty="0">
              <a:latin typeface="Montserrat" pitchFamily="2" charset="77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178BD6A-B3C1-27A9-5AAF-2C97555BEF1A}"/>
              </a:ext>
            </a:extLst>
          </p:cNvPr>
          <p:cNvGrpSpPr/>
          <p:nvPr/>
        </p:nvGrpSpPr>
        <p:grpSpPr>
          <a:xfrm>
            <a:off x="4522158" y="3053406"/>
            <a:ext cx="3099210" cy="3117120"/>
            <a:chOff x="4420695" y="2472361"/>
            <a:chExt cx="3099210" cy="311712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2693A71-10D3-F4DF-FA38-6F6A2A910C0D}"/>
                </a:ext>
              </a:extLst>
            </p:cNvPr>
            <p:cNvGrpSpPr/>
            <p:nvPr/>
          </p:nvGrpSpPr>
          <p:grpSpPr>
            <a:xfrm>
              <a:off x="4645084" y="3445705"/>
              <a:ext cx="2698788" cy="2143776"/>
              <a:chOff x="767641" y="2545588"/>
              <a:chExt cx="2698788" cy="2143776"/>
            </a:xfrm>
          </p:grpSpPr>
          <p:pic>
            <p:nvPicPr>
              <p:cNvPr id="9" name="Picture 8" descr="A blue and black logo&#10;&#10;AI-generated content may be incorrect.">
                <a:extLst>
                  <a:ext uri="{FF2B5EF4-FFF2-40B4-BE49-F238E27FC236}">
                    <a16:creationId xmlns:a16="http://schemas.microsoft.com/office/drawing/2014/main" id="{0F794AFC-B1ED-E449-266B-97702A01E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01736" y="4167252"/>
                <a:ext cx="522111" cy="522111"/>
              </a:xfrm>
              <a:prstGeom prst="rect">
                <a:avLst/>
              </a:prstGeom>
            </p:spPr>
          </p:pic>
          <p:pic>
            <p:nvPicPr>
              <p:cNvPr id="10" name="Picture 9" descr="A white circle in a blue background&#10;&#10;AI-generated content may be incorrect.">
                <a:extLst>
                  <a:ext uri="{FF2B5EF4-FFF2-40B4-BE49-F238E27FC236}">
                    <a16:creationId xmlns:a16="http://schemas.microsoft.com/office/drawing/2014/main" id="{BC77E34B-F750-55CC-C449-E4F0A7EDB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2806" y="3629607"/>
                <a:ext cx="522111" cy="511539"/>
              </a:xfrm>
              <a:prstGeom prst="rect">
                <a:avLst/>
              </a:prstGeom>
            </p:spPr>
          </p:pic>
          <p:pic>
            <p:nvPicPr>
              <p:cNvPr id="11" name="Picture 10" descr="A red and white logo&#10;&#10;AI-generated content may be incorrect.">
                <a:extLst>
                  <a:ext uri="{FF2B5EF4-FFF2-40B4-BE49-F238E27FC236}">
                    <a16:creationId xmlns:a16="http://schemas.microsoft.com/office/drawing/2014/main" id="{FD74FDBB-8786-42F7-C2D4-E48E785AA6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5387" y="3630613"/>
                <a:ext cx="522111" cy="512760"/>
              </a:xfrm>
              <a:prstGeom prst="rect">
                <a:avLst/>
              </a:prstGeom>
            </p:spPr>
          </p:pic>
          <p:pic>
            <p:nvPicPr>
              <p:cNvPr id="12" name="Picture 11" descr="A white letter on a red background&#10;&#10;AI-generated content may be incorrect.">
                <a:extLst>
                  <a:ext uri="{FF2B5EF4-FFF2-40B4-BE49-F238E27FC236}">
                    <a16:creationId xmlns:a16="http://schemas.microsoft.com/office/drawing/2014/main" id="{DD5AF9BE-35ED-152D-DDA3-9393FE631D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7970" y="3630612"/>
                <a:ext cx="522111" cy="512760"/>
              </a:xfrm>
              <a:prstGeom prst="rect">
                <a:avLst/>
              </a:prstGeom>
            </p:spPr>
          </p:pic>
          <p:pic>
            <p:nvPicPr>
              <p:cNvPr id="13" name="Picture 12" descr="A logo with blue lines&#10;&#10;AI-generated content may be incorrect.">
                <a:extLst>
                  <a:ext uri="{FF2B5EF4-FFF2-40B4-BE49-F238E27FC236}">
                    <a16:creationId xmlns:a16="http://schemas.microsoft.com/office/drawing/2014/main" id="{F483913D-3C61-0F40-E9E0-9DD72F7E49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7641" y="4168342"/>
                <a:ext cx="522111" cy="511539"/>
              </a:xfrm>
              <a:prstGeom prst="rect">
                <a:avLst/>
              </a:prstGeom>
            </p:spPr>
          </p:pic>
          <p:pic>
            <p:nvPicPr>
              <p:cNvPr id="14" name="Picture 13" descr="A green frog with black eyes&#10;&#10;AI-generated content may be incorrect.">
                <a:extLst>
                  <a:ext uri="{FF2B5EF4-FFF2-40B4-BE49-F238E27FC236}">
                    <a16:creationId xmlns:a16="http://schemas.microsoft.com/office/drawing/2014/main" id="{8132C083-0EFD-D946-8DB1-2182EFB07D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10222" y="4162750"/>
                <a:ext cx="522111" cy="522111"/>
              </a:xfrm>
              <a:prstGeom prst="rect">
                <a:avLst/>
              </a:prstGeom>
            </p:spPr>
          </p:pic>
          <p:pic>
            <p:nvPicPr>
              <p:cNvPr id="15" name="Picture 14" descr="A red and white letter s&#10;&#10;AI-generated content may be incorrect.">
                <a:extLst>
                  <a:ext uri="{FF2B5EF4-FFF2-40B4-BE49-F238E27FC236}">
                    <a16:creationId xmlns:a16="http://schemas.microsoft.com/office/drawing/2014/main" id="{8CD44868-962C-626E-0CA5-5FD299AD0D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54463" y="4167253"/>
                <a:ext cx="522111" cy="522111"/>
              </a:xfrm>
              <a:prstGeom prst="rect">
                <a:avLst/>
              </a:prstGeom>
            </p:spPr>
          </p:pic>
          <p:pic>
            <p:nvPicPr>
              <p:cNvPr id="16" name="Picture 15" descr="A white and red logo&#10;&#10;AI-generated content may be incorrect.">
                <a:extLst>
                  <a:ext uri="{FF2B5EF4-FFF2-40B4-BE49-F238E27FC236}">
                    <a16:creationId xmlns:a16="http://schemas.microsoft.com/office/drawing/2014/main" id="{417BB45F-CD5B-D6CC-4272-69009C240E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7642" y="3083264"/>
                <a:ext cx="522111" cy="522111"/>
              </a:xfrm>
              <a:prstGeom prst="rect">
                <a:avLst/>
              </a:prstGeom>
            </p:spPr>
          </p:pic>
          <p:pic>
            <p:nvPicPr>
              <p:cNvPr id="17" name="Picture 16" descr="A blue and red logo&#10;&#10;AI-generated content may be incorrect.">
                <a:extLst>
                  <a:ext uri="{FF2B5EF4-FFF2-40B4-BE49-F238E27FC236}">
                    <a16:creationId xmlns:a16="http://schemas.microsoft.com/office/drawing/2014/main" id="{41E32A5F-E13F-9E96-EC64-BA8542FA7D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10222" y="3083264"/>
                <a:ext cx="522111" cy="522111"/>
              </a:xfrm>
              <a:prstGeom prst="rect">
                <a:avLst/>
              </a:prstGeom>
            </p:spPr>
          </p:pic>
          <p:pic>
            <p:nvPicPr>
              <p:cNvPr id="18" name="Picture 17" descr="A black and red logo&#10;&#10;AI-generated content may be incorrect.">
                <a:extLst>
                  <a:ext uri="{FF2B5EF4-FFF2-40B4-BE49-F238E27FC236}">
                    <a16:creationId xmlns:a16="http://schemas.microsoft.com/office/drawing/2014/main" id="{289BA8B1-3F76-D9D2-BEA4-0855E59BC7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52809" y="3083264"/>
                <a:ext cx="522111" cy="522111"/>
              </a:xfrm>
              <a:prstGeom prst="rect">
                <a:avLst/>
              </a:prstGeom>
            </p:spPr>
          </p:pic>
          <p:pic>
            <p:nvPicPr>
              <p:cNvPr id="19" name="Picture 18" descr="A red black and green circle&#10;&#10;AI-generated content may be incorrect.">
                <a:extLst>
                  <a:ext uri="{FF2B5EF4-FFF2-40B4-BE49-F238E27FC236}">
                    <a16:creationId xmlns:a16="http://schemas.microsoft.com/office/drawing/2014/main" id="{86034578-DE7A-5F0D-7120-96531427CB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02370" y="3090965"/>
                <a:ext cx="522111" cy="514235"/>
              </a:xfrm>
              <a:prstGeom prst="rect">
                <a:avLst/>
              </a:prstGeom>
            </p:spPr>
          </p:pic>
          <p:pic>
            <p:nvPicPr>
              <p:cNvPr id="20" name="Picture 19" descr="A black and blue logo&#10;&#10;AI-generated content may be incorrect.">
                <a:extLst>
                  <a:ext uri="{FF2B5EF4-FFF2-40B4-BE49-F238E27FC236}">
                    <a16:creationId xmlns:a16="http://schemas.microsoft.com/office/drawing/2014/main" id="{4501209F-2BA0-BD6F-CA85-7ADB64E9DD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37977" y="3098841"/>
                <a:ext cx="522111" cy="506359"/>
              </a:xfrm>
              <a:prstGeom prst="rect">
                <a:avLst/>
              </a:prstGeom>
            </p:spPr>
          </p:pic>
          <p:pic>
            <p:nvPicPr>
              <p:cNvPr id="21" name="Picture 20" descr="A blue circle with a white clock in it&#10;&#10;AI-generated content may be incorrect.">
                <a:extLst>
                  <a:ext uri="{FF2B5EF4-FFF2-40B4-BE49-F238E27FC236}">
                    <a16:creationId xmlns:a16="http://schemas.microsoft.com/office/drawing/2014/main" id="{89DBD1FF-E4C2-3CE5-A54E-A2335EEE1D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7642" y="3631089"/>
                <a:ext cx="522111" cy="511539"/>
              </a:xfrm>
              <a:prstGeom prst="rect">
                <a:avLst/>
              </a:prstGeom>
            </p:spPr>
          </p:pic>
          <p:pic>
            <p:nvPicPr>
              <p:cNvPr id="22" name="Picture 21" descr="A red square with white text&#10;&#10;AI-generated content may be incorrect.">
                <a:extLst>
                  <a:ext uri="{FF2B5EF4-FFF2-40B4-BE49-F238E27FC236}">
                    <a16:creationId xmlns:a16="http://schemas.microsoft.com/office/drawing/2014/main" id="{DB61BE1E-A46F-387D-8A3F-1D399C3234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10228" y="2545588"/>
                <a:ext cx="522111" cy="522111"/>
              </a:xfrm>
              <a:prstGeom prst="rect">
                <a:avLst/>
              </a:prstGeom>
            </p:spPr>
          </p:pic>
          <p:pic>
            <p:nvPicPr>
              <p:cNvPr id="23" name="Picture 22" descr="A red square with white text&#10;&#10;AI-generated content may be incorrect.">
                <a:extLst>
                  <a:ext uri="{FF2B5EF4-FFF2-40B4-BE49-F238E27FC236}">
                    <a16:creationId xmlns:a16="http://schemas.microsoft.com/office/drawing/2014/main" id="{53D15D36-A990-6255-4794-84D352EACB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67645" y="2545588"/>
                <a:ext cx="522111" cy="522111"/>
              </a:xfrm>
              <a:prstGeom prst="rect">
                <a:avLst/>
              </a:prstGeom>
            </p:spPr>
          </p:pic>
          <p:pic>
            <p:nvPicPr>
              <p:cNvPr id="24" name="Picture 23" descr="A black letter on a yellow background&#10;&#10;AI-generated content may be incorrect.">
                <a:extLst>
                  <a:ext uri="{FF2B5EF4-FFF2-40B4-BE49-F238E27FC236}">
                    <a16:creationId xmlns:a16="http://schemas.microsoft.com/office/drawing/2014/main" id="{E5095487-6414-27C9-BC1B-D992518E5C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52811" y="2545588"/>
                <a:ext cx="522111" cy="522111"/>
              </a:xfrm>
              <a:prstGeom prst="rect">
                <a:avLst/>
              </a:prstGeom>
            </p:spPr>
          </p:pic>
          <p:pic>
            <p:nvPicPr>
              <p:cNvPr id="25" name="Picture 24" descr="A black and white logo&#10;&#10;AI-generated content may be incorrect.">
                <a:extLst>
                  <a:ext uri="{FF2B5EF4-FFF2-40B4-BE49-F238E27FC236}">
                    <a16:creationId xmlns:a16="http://schemas.microsoft.com/office/drawing/2014/main" id="{32F1258D-D494-29B9-7EBE-F857D2FE81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395394" y="2547873"/>
                <a:ext cx="522111" cy="522111"/>
              </a:xfrm>
              <a:prstGeom prst="rect">
                <a:avLst/>
              </a:prstGeom>
            </p:spPr>
          </p:pic>
          <p:pic>
            <p:nvPicPr>
              <p:cNvPr id="26" name="Picture 25" descr="A blue and white letter e&#10;&#10;AI-generated content may be incorrect.">
                <a:extLst>
                  <a:ext uri="{FF2B5EF4-FFF2-40B4-BE49-F238E27FC236}">
                    <a16:creationId xmlns:a16="http://schemas.microsoft.com/office/drawing/2014/main" id="{CF3778FE-7CDB-9F9F-441E-19452D6C4B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37977" y="2545588"/>
                <a:ext cx="522111" cy="522111"/>
              </a:xfrm>
              <a:prstGeom prst="rect">
                <a:avLst/>
              </a:prstGeom>
            </p:spPr>
          </p:pic>
          <p:pic>
            <p:nvPicPr>
              <p:cNvPr id="27" name="Picture 26" descr="A blue background with white text&#10;&#10;AI-generated content may be incorrect.">
                <a:extLst>
                  <a:ext uri="{FF2B5EF4-FFF2-40B4-BE49-F238E27FC236}">
                    <a16:creationId xmlns:a16="http://schemas.microsoft.com/office/drawing/2014/main" id="{C7B344E9-861D-D9BC-D08A-63841BB329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44319" y="4162750"/>
                <a:ext cx="522110" cy="522111"/>
              </a:xfrm>
              <a:prstGeom prst="rect">
                <a:avLst/>
              </a:prstGeom>
            </p:spPr>
          </p:pic>
          <p:pic>
            <p:nvPicPr>
              <p:cNvPr id="28" name="Picture 27" descr="A green and white logo&#10;&#10;AI-generated content may be incorrect.">
                <a:extLst>
                  <a:ext uri="{FF2B5EF4-FFF2-40B4-BE49-F238E27FC236}">
                    <a16:creationId xmlns:a16="http://schemas.microsoft.com/office/drawing/2014/main" id="{AE3A8D51-987F-4D72-8ED3-1CF0371F93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15813" y="3631087"/>
                <a:ext cx="516522" cy="505951"/>
              </a:xfrm>
              <a:prstGeom prst="rect">
                <a:avLst/>
              </a:prstGeom>
            </p:spPr>
          </p:pic>
        </p:grpSp>
        <p:sp>
          <p:nvSpPr>
            <p:cNvPr id="29" name="Content Placeholder 2">
              <a:extLst>
                <a:ext uri="{FF2B5EF4-FFF2-40B4-BE49-F238E27FC236}">
                  <a16:creationId xmlns:a16="http://schemas.microsoft.com/office/drawing/2014/main" id="{A386096A-F8D6-B732-032A-69EEB83AC339}"/>
                </a:ext>
              </a:extLst>
            </p:cNvPr>
            <p:cNvSpPr txBox="1">
              <a:spLocks/>
            </p:cNvSpPr>
            <p:nvPr/>
          </p:nvSpPr>
          <p:spPr>
            <a:xfrm>
              <a:off x="4420695" y="2472361"/>
              <a:ext cx="3099210" cy="37409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4000" b="1" noProof="0" dirty="0">
                  <a:solidFill>
                    <a:srgbClr val="2124B1"/>
                  </a:solidFill>
                  <a:latin typeface="Montserrat" pitchFamily="2" charset="77"/>
                </a:rPr>
                <a:t>20</a:t>
              </a:r>
              <a:r>
                <a:rPr lang="pt-PT" sz="1700" b="1" dirty="0">
                  <a:solidFill>
                    <a:srgbClr val="2124B1"/>
                  </a:solidFill>
                  <a:latin typeface="Montserrat" pitchFamily="2" charset="77"/>
                </a:rPr>
                <a:t> </a:t>
              </a:r>
              <a:r>
                <a:rPr lang="pt-PT" sz="1700" noProof="0" dirty="0">
                  <a:solidFill>
                    <a:srgbClr val="2124B1"/>
                  </a:solidFill>
                  <a:latin typeface="Montserrat" pitchFamily="2" charset="77"/>
                </a:rPr>
                <a:t>fontes</a:t>
              </a:r>
              <a:br>
                <a:rPr lang="pt-PT" sz="1700" noProof="0" dirty="0">
                  <a:solidFill>
                    <a:srgbClr val="2124B1"/>
                  </a:solidFill>
                  <a:latin typeface="Montserrat" pitchFamily="2" charset="77"/>
                </a:rPr>
              </a:br>
              <a:r>
                <a:rPr lang="pt-PT" sz="1700" noProof="0" dirty="0">
                  <a:solidFill>
                    <a:srgbClr val="2124B1"/>
                  </a:solidFill>
                  <a:latin typeface="Montserrat" pitchFamily="2" charset="77"/>
                </a:rPr>
                <a:t>de informação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964133A-0072-0DCF-A215-861A3A876DC8}"/>
              </a:ext>
            </a:extLst>
          </p:cNvPr>
          <p:cNvGrpSpPr/>
          <p:nvPr/>
        </p:nvGrpSpPr>
        <p:grpSpPr>
          <a:xfrm>
            <a:off x="5148892" y="1957796"/>
            <a:ext cx="1897453" cy="833157"/>
            <a:chOff x="8370168" y="2788137"/>
            <a:chExt cx="1897453" cy="833157"/>
          </a:xfrm>
        </p:grpSpPr>
        <p:pic>
          <p:nvPicPr>
            <p:cNvPr id="30" name="Picture 29" descr="A black text on a black background&#10;&#10;AI-generated content may be incorrect.">
              <a:extLst>
                <a:ext uri="{FF2B5EF4-FFF2-40B4-BE49-F238E27FC236}">
                  <a16:creationId xmlns:a16="http://schemas.microsoft.com/office/drawing/2014/main" id="{E7086CA6-4935-D6C0-1D71-9CCB5B2AC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8370168" y="2788137"/>
              <a:ext cx="1894098" cy="514235"/>
            </a:xfrm>
            <a:prstGeom prst="rect">
              <a:avLst/>
            </a:prstGeom>
          </p:spPr>
        </p:pic>
        <p:sp>
          <p:nvSpPr>
            <p:cNvPr id="31" name="Content Placeholder 2">
              <a:extLst>
                <a:ext uri="{FF2B5EF4-FFF2-40B4-BE49-F238E27FC236}">
                  <a16:creationId xmlns:a16="http://schemas.microsoft.com/office/drawing/2014/main" id="{D4E308B4-0BF6-43E4-AF3A-178AB28F3A58}"/>
                </a:ext>
              </a:extLst>
            </p:cNvPr>
            <p:cNvSpPr txBox="1">
              <a:spLocks/>
            </p:cNvSpPr>
            <p:nvPr/>
          </p:nvSpPr>
          <p:spPr>
            <a:xfrm>
              <a:off x="8377144" y="3284789"/>
              <a:ext cx="1890477" cy="33650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noProof="0" dirty="0">
                  <a:latin typeface="Montserrat" pitchFamily="2" charset="77"/>
                </a:rPr>
                <a:t>(CDX-server API)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95C74CC-A2BD-3EAB-9918-F0D422304BB5}"/>
              </a:ext>
            </a:extLst>
          </p:cNvPr>
          <p:cNvGrpSpPr/>
          <p:nvPr/>
        </p:nvGrpSpPr>
        <p:grpSpPr>
          <a:xfrm>
            <a:off x="441573" y="3336010"/>
            <a:ext cx="2732145" cy="2150045"/>
            <a:chOff x="441573" y="3336010"/>
            <a:chExt cx="2732145" cy="2150045"/>
          </a:xfrm>
        </p:grpSpPr>
        <p:sp>
          <p:nvSpPr>
            <p:cNvPr id="40" name="Content Placeholder 2">
              <a:extLst>
                <a:ext uri="{FF2B5EF4-FFF2-40B4-BE49-F238E27FC236}">
                  <a16:creationId xmlns:a16="http://schemas.microsoft.com/office/drawing/2014/main" id="{E7BC735A-B890-CFC6-9B00-316474D19021}"/>
                </a:ext>
              </a:extLst>
            </p:cNvPr>
            <p:cNvSpPr txBox="1">
              <a:spLocks/>
            </p:cNvSpPr>
            <p:nvPr/>
          </p:nvSpPr>
          <p:spPr>
            <a:xfrm>
              <a:off x="441573" y="3336010"/>
              <a:ext cx="2732145" cy="426652"/>
            </a:xfrm>
            <a:prstGeom prst="rect">
              <a:avLst/>
            </a:prstGeom>
            <a:solidFill>
              <a:srgbClr val="4245BE"/>
            </a:solidFill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b="1" dirty="0">
                  <a:solidFill>
                    <a:schemeClr val="bg1"/>
                  </a:solidFill>
                  <a:latin typeface="Montserrat" pitchFamily="2" charset="77"/>
                </a:rPr>
                <a:t>Recolha de ligações</a:t>
              </a:r>
            </a:p>
          </p:txBody>
        </p:sp>
        <p:sp>
          <p:nvSpPr>
            <p:cNvPr id="42" name="Content Placeholder 2">
              <a:extLst>
                <a:ext uri="{FF2B5EF4-FFF2-40B4-BE49-F238E27FC236}">
                  <a16:creationId xmlns:a16="http://schemas.microsoft.com/office/drawing/2014/main" id="{B1F52B53-EE2D-865A-E690-CC84D712B3C2}"/>
                </a:ext>
              </a:extLst>
            </p:cNvPr>
            <p:cNvSpPr txBox="1">
              <a:spLocks/>
            </p:cNvSpPr>
            <p:nvPr/>
          </p:nvSpPr>
          <p:spPr>
            <a:xfrm>
              <a:off x="525458" y="3904177"/>
              <a:ext cx="2547965" cy="43294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noProof="0" dirty="0">
                  <a:latin typeface="Montserrat" pitchFamily="2" charset="77"/>
                </a:rPr>
                <a:t>Extração de texto</a:t>
              </a:r>
            </a:p>
          </p:txBody>
        </p:sp>
        <p:sp>
          <p:nvSpPr>
            <p:cNvPr id="43" name="Content Placeholder 2">
              <a:extLst>
                <a:ext uri="{FF2B5EF4-FFF2-40B4-BE49-F238E27FC236}">
                  <a16:creationId xmlns:a16="http://schemas.microsoft.com/office/drawing/2014/main" id="{C0013626-EA2C-E909-5DC2-C7F69C0CBE4F}"/>
                </a:ext>
              </a:extLst>
            </p:cNvPr>
            <p:cNvSpPr txBox="1">
              <a:spLocks/>
            </p:cNvSpPr>
            <p:nvPr/>
          </p:nvSpPr>
          <p:spPr>
            <a:xfrm>
              <a:off x="525458" y="4478641"/>
              <a:ext cx="2547965" cy="43294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noProof="0" dirty="0">
                  <a:latin typeface="Montserrat" pitchFamily="2" charset="77"/>
                </a:rPr>
                <a:t>Mineração de dados</a:t>
              </a:r>
            </a:p>
          </p:txBody>
        </p:sp>
        <p:sp>
          <p:nvSpPr>
            <p:cNvPr id="44" name="Content Placeholder 2">
              <a:extLst>
                <a:ext uri="{FF2B5EF4-FFF2-40B4-BE49-F238E27FC236}">
                  <a16:creationId xmlns:a16="http://schemas.microsoft.com/office/drawing/2014/main" id="{AC5B84FD-127B-E459-1DDD-591B831C8EFF}"/>
                </a:ext>
              </a:extLst>
            </p:cNvPr>
            <p:cNvSpPr txBox="1">
              <a:spLocks/>
            </p:cNvSpPr>
            <p:nvPr/>
          </p:nvSpPr>
          <p:spPr>
            <a:xfrm>
              <a:off x="525458" y="5053105"/>
              <a:ext cx="2547965" cy="43295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noProof="0" dirty="0">
                  <a:latin typeface="Montserrat" pitchFamily="2" charset="77"/>
                </a:rPr>
                <a:t>Lupa Digital</a:t>
              </a:r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6740DB6C-31CB-F17F-4074-E996238F1F0B}"/>
              </a:ext>
            </a:extLst>
          </p:cNvPr>
          <p:cNvSpPr/>
          <p:nvPr/>
        </p:nvSpPr>
        <p:spPr>
          <a:xfrm>
            <a:off x="0" y="1"/>
            <a:ext cx="12192000" cy="1538344"/>
          </a:xfrm>
          <a:prstGeom prst="rect">
            <a:avLst/>
          </a:prstGeom>
          <a:solidFill>
            <a:srgbClr val="2124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2124B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A48E5C-4B46-B7D2-260A-59B226E9639D}"/>
              </a:ext>
            </a:extLst>
          </p:cNvPr>
          <p:cNvSpPr txBox="1">
            <a:spLocks/>
          </p:cNvSpPr>
          <p:nvPr/>
        </p:nvSpPr>
        <p:spPr>
          <a:xfrm>
            <a:off x="432257" y="548762"/>
            <a:ext cx="10326665" cy="440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dirty="0">
                <a:solidFill>
                  <a:srgbClr val="F2F2F2"/>
                </a:solidFill>
                <a:latin typeface="Montserrat" pitchFamily="2" charset="77"/>
              </a:rPr>
              <a:t>ARQUITETURA E METODOLOGIA</a:t>
            </a:r>
            <a:endParaRPr lang="en-PT" sz="4000" dirty="0">
              <a:solidFill>
                <a:srgbClr val="F2F2F2"/>
              </a:solidFill>
              <a:latin typeface="Montserrat" pitchFamily="2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6E33BA8-8339-D576-E57A-D8F2ADE49887}"/>
              </a:ext>
            </a:extLst>
          </p:cNvPr>
          <p:cNvSpPr/>
          <p:nvPr/>
        </p:nvSpPr>
        <p:spPr>
          <a:xfrm>
            <a:off x="10209277" y="-311159"/>
            <a:ext cx="1550466" cy="1577602"/>
          </a:xfrm>
          <a:prstGeom prst="ellipse">
            <a:avLst/>
          </a:prstGeom>
          <a:solidFill>
            <a:srgbClr val="4245BE"/>
          </a:solidFill>
          <a:ln>
            <a:solidFill>
              <a:srgbClr val="424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noFill/>
            </a:endParaRPr>
          </a:p>
        </p:txBody>
      </p:sp>
      <p:pic>
        <p:nvPicPr>
          <p:cNvPr id="8" name="Imagem 7" descr="Uma imagem com Gráficos, círculo, Saturação de cores, design&#10;&#10;Os conteúdos gerados por IA podem estar incorretos.">
            <a:extLst>
              <a:ext uri="{FF2B5EF4-FFF2-40B4-BE49-F238E27FC236}">
                <a16:creationId xmlns:a16="http://schemas.microsoft.com/office/drawing/2014/main" id="{973B092C-F6B4-94E4-F037-9F3B5DEA7C24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biLevel thresh="25000"/>
            <a:alphaModFix amt="20000"/>
          </a:blip>
          <a:stretch>
            <a:fillRect/>
          </a:stretch>
        </p:blipFill>
        <p:spPr>
          <a:xfrm rot="10800000">
            <a:off x="9328834" y="-573554"/>
            <a:ext cx="1946257" cy="1946257"/>
          </a:xfrm>
          <a:prstGeom prst="rect">
            <a:avLst/>
          </a:prstGeom>
          <a:noFill/>
        </p:spPr>
      </p:pic>
      <p:sp>
        <p:nvSpPr>
          <p:cNvPr id="32" name="Retângulo 31">
            <a:extLst>
              <a:ext uri="{FF2B5EF4-FFF2-40B4-BE49-F238E27FC236}">
                <a16:creationId xmlns:a16="http://schemas.microsoft.com/office/drawing/2014/main" id="{DEF2A41D-5AA4-1B34-A359-8C10AF8522BF}"/>
              </a:ext>
            </a:extLst>
          </p:cNvPr>
          <p:cNvSpPr/>
          <p:nvPr/>
        </p:nvSpPr>
        <p:spPr>
          <a:xfrm rot="16200000">
            <a:off x="811951" y="816300"/>
            <a:ext cx="73128" cy="674616"/>
          </a:xfrm>
          <a:prstGeom prst="rect">
            <a:avLst/>
          </a:prstGeom>
          <a:solidFill>
            <a:srgbClr val="4245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4245BE"/>
              </a:solidFill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0F1735BE-CF18-7623-0CB7-D9C940370712}"/>
              </a:ext>
            </a:extLst>
          </p:cNvPr>
          <p:cNvSpPr/>
          <p:nvPr/>
        </p:nvSpPr>
        <p:spPr>
          <a:xfrm>
            <a:off x="7634871" y="2078494"/>
            <a:ext cx="365760" cy="4218845"/>
          </a:xfrm>
          <a:prstGeom prst="rightBrace">
            <a:avLst>
              <a:gd name="adj1" fmla="val 149178"/>
              <a:gd name="adj2" fmla="val 49708"/>
            </a:avLst>
          </a:prstGeom>
          <a:ln w="12700">
            <a:solidFill>
              <a:srgbClr val="001A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70536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2ED5B-F866-3F4A-EA18-6F24D86C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A85A620A-0530-D868-FB64-79D31CBE8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189" y="5486055"/>
            <a:ext cx="1371563" cy="7666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7B885-F31A-767A-A103-CAF3C460C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pt-PT" noProof="0" smtClean="0">
                <a:latin typeface="Montserrat" pitchFamily="2" charset="77"/>
              </a:rPr>
              <a:pPr/>
              <a:t>5</a:t>
            </a:fld>
            <a:endParaRPr lang="pt-PT" noProof="0" dirty="0">
              <a:latin typeface="Montserrat" pitchFamily="2" charset="77"/>
            </a:endParaRP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7FDC7088-4A41-3DDE-CC75-6D96ACA44F18}"/>
              </a:ext>
            </a:extLst>
          </p:cNvPr>
          <p:cNvSpPr txBox="1">
            <a:spLocks/>
          </p:cNvSpPr>
          <p:nvPr/>
        </p:nvSpPr>
        <p:spPr>
          <a:xfrm>
            <a:off x="4900864" y="2108903"/>
            <a:ext cx="2390272" cy="426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pt-PT" sz="1700" b="1" noProof="0" dirty="0">
                <a:latin typeface="Montserrat" pitchFamily="2" charset="77"/>
              </a:rPr>
              <a:t>3 056 418 </a:t>
            </a:r>
            <a:r>
              <a:rPr lang="pt-PT" sz="1700" noProof="0" dirty="0" err="1">
                <a:latin typeface="Montserrat" pitchFamily="2" charset="77"/>
              </a:rPr>
              <a:t>URLs</a:t>
            </a:r>
            <a:endParaRPr lang="pt-PT" sz="1700" noProof="0" dirty="0">
              <a:latin typeface="Montserrat" pitchFamily="2" charset="77"/>
            </a:endParaRPr>
          </a:p>
        </p:txBody>
      </p:sp>
      <p:pic>
        <p:nvPicPr>
          <p:cNvPr id="47" name="Picture 46" descr="A black and orange logo&#10;&#10;AI-generated content may be incorrect.">
            <a:extLst>
              <a:ext uri="{FF2B5EF4-FFF2-40B4-BE49-F238E27FC236}">
                <a16:creationId xmlns:a16="http://schemas.microsoft.com/office/drawing/2014/main" id="{0C5F7CA5-78A3-590F-4C38-9BFF4F30D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189" y="3815191"/>
            <a:ext cx="1371563" cy="766645"/>
          </a:xfrm>
          <a:prstGeom prst="rect">
            <a:avLst/>
          </a:prstGeom>
        </p:spPr>
      </p:pic>
      <p:pic>
        <p:nvPicPr>
          <p:cNvPr id="50" name="Picture 49" descr="A black background with white spots&#10;&#10;AI-generated content may be incorrect.">
            <a:extLst>
              <a:ext uri="{FF2B5EF4-FFF2-40B4-BE49-F238E27FC236}">
                <a16:creationId xmlns:a16="http://schemas.microsoft.com/office/drawing/2014/main" id="{F5FF406B-1B4A-ABD7-2CCA-50EE719A7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189" y="4656973"/>
            <a:ext cx="1371565" cy="766646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CADC79F0-C9B1-E687-49F7-07CF8B1017D4}"/>
              </a:ext>
            </a:extLst>
          </p:cNvPr>
          <p:cNvGrpSpPr/>
          <p:nvPr/>
        </p:nvGrpSpPr>
        <p:grpSpPr>
          <a:xfrm>
            <a:off x="4969952" y="2833559"/>
            <a:ext cx="2226038" cy="893795"/>
            <a:chOff x="8191169" y="2788137"/>
            <a:chExt cx="2226038" cy="893795"/>
          </a:xfrm>
        </p:grpSpPr>
        <p:pic>
          <p:nvPicPr>
            <p:cNvPr id="56" name="Picture 55" descr="A black text on a black background&#10;&#10;AI-generated content may be incorrect.">
              <a:extLst>
                <a:ext uri="{FF2B5EF4-FFF2-40B4-BE49-F238E27FC236}">
                  <a16:creationId xmlns:a16="http://schemas.microsoft.com/office/drawing/2014/main" id="{C7823727-B9F4-66D6-05A0-6231389A8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70168" y="2788137"/>
              <a:ext cx="1894098" cy="514235"/>
            </a:xfrm>
            <a:prstGeom prst="rect">
              <a:avLst/>
            </a:prstGeom>
          </p:spPr>
        </p:pic>
        <p:sp>
          <p:nvSpPr>
            <p:cNvPr id="57" name="Content Placeholder 2">
              <a:extLst>
                <a:ext uri="{FF2B5EF4-FFF2-40B4-BE49-F238E27FC236}">
                  <a16:creationId xmlns:a16="http://schemas.microsoft.com/office/drawing/2014/main" id="{83C725FA-21F9-0E74-DA0F-98EC778B8537}"/>
                </a:ext>
              </a:extLst>
            </p:cNvPr>
            <p:cNvSpPr txBox="1">
              <a:spLocks/>
            </p:cNvSpPr>
            <p:nvPr/>
          </p:nvSpPr>
          <p:spPr>
            <a:xfrm>
              <a:off x="8191169" y="3255280"/>
              <a:ext cx="2226038" cy="42665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noProof="0" dirty="0"/>
                <a:t>(páginas arquivadas)</a:t>
              </a:r>
            </a:p>
          </p:txBody>
        </p:sp>
      </p:grpSp>
      <p:sp>
        <p:nvSpPr>
          <p:cNvPr id="4097" name="Right Brace 4096">
            <a:extLst>
              <a:ext uri="{FF2B5EF4-FFF2-40B4-BE49-F238E27FC236}">
                <a16:creationId xmlns:a16="http://schemas.microsoft.com/office/drawing/2014/main" id="{DAA3626B-9F9B-C189-1981-11C90892E19E}"/>
              </a:ext>
            </a:extLst>
          </p:cNvPr>
          <p:cNvSpPr/>
          <p:nvPr/>
        </p:nvSpPr>
        <p:spPr>
          <a:xfrm>
            <a:off x="7634871" y="2078494"/>
            <a:ext cx="365760" cy="4218845"/>
          </a:xfrm>
          <a:prstGeom prst="rightBrace">
            <a:avLst>
              <a:gd name="adj1" fmla="val 149178"/>
              <a:gd name="adj2" fmla="val 49708"/>
            </a:avLst>
          </a:prstGeom>
          <a:ln w="12700">
            <a:solidFill>
              <a:srgbClr val="001A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28B16-73C5-AED1-8A0A-251494EAD4E3}"/>
              </a:ext>
            </a:extLst>
          </p:cNvPr>
          <p:cNvSpPr txBox="1">
            <a:spLocks/>
          </p:cNvSpPr>
          <p:nvPr/>
        </p:nvSpPr>
        <p:spPr>
          <a:xfrm>
            <a:off x="8756394" y="3467452"/>
            <a:ext cx="2431280" cy="14621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pt-PT" b="1" noProof="0" dirty="0">
                <a:latin typeface="Montserrat" pitchFamily="2" charset="77"/>
              </a:rPr>
              <a:t>349 519 </a:t>
            </a:r>
            <a:r>
              <a:rPr lang="pt-PT" noProof="0" dirty="0">
                <a:latin typeface="Montserrat" pitchFamily="2" charset="77"/>
              </a:rPr>
              <a:t>textos,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pt-PT" noProof="0" dirty="0">
                <a:latin typeface="Montserrat" pitchFamily="2" charset="77"/>
              </a:rPr>
              <a:t> únicos e válidos</a:t>
            </a:r>
          </a:p>
        </p:txBody>
      </p:sp>
      <p:grpSp>
        <p:nvGrpSpPr>
          <p:cNvPr id="11" name="Group 51">
            <a:extLst>
              <a:ext uri="{FF2B5EF4-FFF2-40B4-BE49-F238E27FC236}">
                <a16:creationId xmlns:a16="http://schemas.microsoft.com/office/drawing/2014/main" id="{FEB433F4-5224-672F-7A18-029337A4A0CB}"/>
              </a:ext>
            </a:extLst>
          </p:cNvPr>
          <p:cNvGrpSpPr/>
          <p:nvPr/>
        </p:nvGrpSpPr>
        <p:grpSpPr>
          <a:xfrm>
            <a:off x="441573" y="3336010"/>
            <a:ext cx="2732145" cy="2150045"/>
            <a:chOff x="441573" y="3336010"/>
            <a:chExt cx="2732145" cy="2150045"/>
          </a:xfrm>
        </p:grpSpPr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A2E13FFB-161D-B4B0-6A05-DAC3DFCEBB4B}"/>
                </a:ext>
              </a:extLst>
            </p:cNvPr>
            <p:cNvSpPr txBox="1">
              <a:spLocks/>
            </p:cNvSpPr>
            <p:nvPr/>
          </p:nvSpPr>
          <p:spPr>
            <a:xfrm>
              <a:off x="441573" y="3336010"/>
              <a:ext cx="2732145" cy="4266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dirty="0">
                  <a:latin typeface="Montserrat" pitchFamily="2" charset="77"/>
                </a:rPr>
                <a:t>Recolha de ligações</a:t>
              </a:r>
            </a:p>
          </p:txBody>
        </p:sp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9984C72B-D5B2-3B3C-465B-BF9459975357}"/>
                </a:ext>
              </a:extLst>
            </p:cNvPr>
            <p:cNvSpPr txBox="1">
              <a:spLocks/>
            </p:cNvSpPr>
            <p:nvPr/>
          </p:nvSpPr>
          <p:spPr>
            <a:xfrm>
              <a:off x="525458" y="3904177"/>
              <a:ext cx="2547965" cy="432949"/>
            </a:xfrm>
            <a:prstGeom prst="rect">
              <a:avLst/>
            </a:prstGeom>
            <a:solidFill>
              <a:srgbClr val="4245BE"/>
            </a:solidFill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b="1" noProof="0" dirty="0">
                  <a:solidFill>
                    <a:schemeClr val="bg1"/>
                  </a:solidFill>
                  <a:latin typeface="Montserrat" pitchFamily="2" charset="77"/>
                </a:rPr>
                <a:t>Extração de texto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2844337A-F398-6420-E501-166ED3E6911F}"/>
                </a:ext>
              </a:extLst>
            </p:cNvPr>
            <p:cNvSpPr txBox="1">
              <a:spLocks/>
            </p:cNvSpPr>
            <p:nvPr/>
          </p:nvSpPr>
          <p:spPr>
            <a:xfrm>
              <a:off x="525458" y="4478641"/>
              <a:ext cx="2547965" cy="43294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noProof="0" dirty="0">
                  <a:latin typeface="Montserrat" pitchFamily="2" charset="77"/>
                </a:rPr>
                <a:t>Mineração de dados</a:t>
              </a:r>
            </a:p>
          </p:txBody>
        </p:sp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3FA8242A-DB2E-6B2B-045C-FE5D4159A632}"/>
                </a:ext>
              </a:extLst>
            </p:cNvPr>
            <p:cNvSpPr txBox="1">
              <a:spLocks/>
            </p:cNvSpPr>
            <p:nvPr/>
          </p:nvSpPr>
          <p:spPr>
            <a:xfrm>
              <a:off x="525458" y="5053105"/>
              <a:ext cx="2547965" cy="43295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noProof="0" dirty="0">
                  <a:latin typeface="Montserrat" pitchFamily="2" charset="77"/>
                </a:rPr>
                <a:t>Lupa Digital</a:t>
              </a:r>
            </a:p>
          </p:txBody>
        </p:sp>
      </p:grpSp>
      <p:sp>
        <p:nvSpPr>
          <p:cNvPr id="18" name="Retângulo 17">
            <a:extLst>
              <a:ext uri="{FF2B5EF4-FFF2-40B4-BE49-F238E27FC236}">
                <a16:creationId xmlns:a16="http://schemas.microsoft.com/office/drawing/2014/main" id="{14A752AD-3D92-A147-B521-25C39B7E9988}"/>
              </a:ext>
            </a:extLst>
          </p:cNvPr>
          <p:cNvSpPr/>
          <p:nvPr/>
        </p:nvSpPr>
        <p:spPr>
          <a:xfrm>
            <a:off x="0" y="1"/>
            <a:ext cx="12192000" cy="1538344"/>
          </a:xfrm>
          <a:prstGeom prst="rect">
            <a:avLst/>
          </a:prstGeom>
          <a:solidFill>
            <a:srgbClr val="2124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2124B1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0540E2-3986-3680-2C2B-18048CB386D0}"/>
              </a:ext>
            </a:extLst>
          </p:cNvPr>
          <p:cNvSpPr txBox="1">
            <a:spLocks/>
          </p:cNvSpPr>
          <p:nvPr/>
        </p:nvSpPr>
        <p:spPr>
          <a:xfrm>
            <a:off x="432257" y="548762"/>
            <a:ext cx="10326665" cy="440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dirty="0">
                <a:solidFill>
                  <a:srgbClr val="F2F2F2"/>
                </a:solidFill>
                <a:latin typeface="Montserrat" pitchFamily="2" charset="77"/>
              </a:rPr>
              <a:t>ARQUITETURA E METODOLOGIA</a:t>
            </a:r>
            <a:endParaRPr lang="en-PT" sz="4000" dirty="0">
              <a:solidFill>
                <a:srgbClr val="F2F2F2"/>
              </a:solidFill>
              <a:latin typeface="Montserrat" pitchFamily="2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19EFDB7-F5F5-65E2-7115-8D0BCD22437E}"/>
              </a:ext>
            </a:extLst>
          </p:cNvPr>
          <p:cNvSpPr/>
          <p:nvPr/>
        </p:nvSpPr>
        <p:spPr>
          <a:xfrm>
            <a:off x="10209277" y="-311159"/>
            <a:ext cx="1550466" cy="1577602"/>
          </a:xfrm>
          <a:prstGeom prst="ellipse">
            <a:avLst/>
          </a:prstGeom>
          <a:solidFill>
            <a:srgbClr val="4245BE"/>
          </a:solidFill>
          <a:ln>
            <a:solidFill>
              <a:srgbClr val="424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noFill/>
            </a:endParaRPr>
          </a:p>
        </p:txBody>
      </p:sp>
      <p:pic>
        <p:nvPicPr>
          <p:cNvPr id="21" name="Imagem 20" descr="Uma imagem com Gráficos, círculo, Saturação de cores, design&#10;&#10;Os conteúdos gerados por IA podem estar incorretos.">
            <a:extLst>
              <a:ext uri="{FF2B5EF4-FFF2-40B4-BE49-F238E27FC236}">
                <a16:creationId xmlns:a16="http://schemas.microsoft.com/office/drawing/2014/main" id="{58990F68-3047-25B1-4B6A-E172C94059AE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biLevel thresh="25000"/>
            <a:alphaModFix amt="20000"/>
          </a:blip>
          <a:stretch>
            <a:fillRect/>
          </a:stretch>
        </p:blipFill>
        <p:spPr>
          <a:xfrm rot="10800000">
            <a:off x="9328834" y="-573554"/>
            <a:ext cx="1946257" cy="1946257"/>
          </a:xfrm>
          <a:prstGeom prst="rect">
            <a:avLst/>
          </a:prstGeom>
          <a:noFill/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65ACE7B7-161B-B480-8489-9F9692161168}"/>
              </a:ext>
            </a:extLst>
          </p:cNvPr>
          <p:cNvSpPr/>
          <p:nvPr/>
        </p:nvSpPr>
        <p:spPr>
          <a:xfrm rot="16200000">
            <a:off x="811951" y="816300"/>
            <a:ext cx="73128" cy="674616"/>
          </a:xfrm>
          <a:prstGeom prst="rect">
            <a:avLst/>
          </a:prstGeom>
          <a:solidFill>
            <a:srgbClr val="4245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4245B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768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CFA4-4945-5F3F-2CD8-FD29555EC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9BE9418-BE82-81F3-51CA-FA173B42088E}"/>
              </a:ext>
            </a:extLst>
          </p:cNvPr>
          <p:cNvGrpSpPr/>
          <p:nvPr/>
        </p:nvGrpSpPr>
        <p:grpSpPr>
          <a:xfrm>
            <a:off x="8478485" y="3215469"/>
            <a:ext cx="3099064" cy="2251567"/>
            <a:chOff x="8633087" y="3101936"/>
            <a:chExt cx="3099064" cy="2251567"/>
          </a:xfrm>
        </p:grpSpPr>
        <p:sp>
          <p:nvSpPr>
            <p:cNvPr id="41" name="Content Placeholder 2">
              <a:extLst>
                <a:ext uri="{FF2B5EF4-FFF2-40B4-BE49-F238E27FC236}">
                  <a16:creationId xmlns:a16="http://schemas.microsoft.com/office/drawing/2014/main" id="{36800174-1D2F-54B4-F9AE-F8B429830193}"/>
                </a:ext>
              </a:extLst>
            </p:cNvPr>
            <p:cNvSpPr txBox="1">
              <a:spLocks/>
            </p:cNvSpPr>
            <p:nvPr/>
          </p:nvSpPr>
          <p:spPr>
            <a:xfrm>
              <a:off x="8633087" y="3707437"/>
              <a:ext cx="3099064" cy="164606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PT" noProof="0" dirty="0">
                  <a:latin typeface="Montserrat" pitchFamily="2" charset="77"/>
                </a:rPr>
                <a:t>Data de publicação</a:t>
              </a:r>
            </a:p>
            <a:p>
              <a:pPr marL="0" indent="0" algn="ctr">
                <a:buNone/>
              </a:pPr>
              <a:r>
                <a:rPr lang="pt-PT" dirty="0">
                  <a:latin typeface="Montserrat" pitchFamily="2" charset="77"/>
                </a:rPr>
                <a:t>Fonte de informação</a:t>
              </a:r>
            </a:p>
            <a:p>
              <a:pPr marL="0" indent="0" algn="ctr">
                <a:buNone/>
              </a:pPr>
              <a:r>
                <a:rPr lang="pt-PT" dirty="0">
                  <a:latin typeface="Montserrat" pitchFamily="2" charset="77"/>
                </a:rPr>
                <a:t>Perceção do sentimento</a:t>
              </a:r>
            </a:p>
            <a:p>
              <a:pPr marL="0" indent="0" algn="ctr">
                <a:buNone/>
              </a:pPr>
              <a:r>
                <a:rPr lang="pt-PT" dirty="0">
                  <a:latin typeface="Montserrat" pitchFamily="2" charset="77"/>
                </a:rPr>
                <a:t>Tópicos mencionados</a:t>
              </a:r>
            </a:p>
          </p:txBody>
        </p:sp>
        <p:sp>
          <p:nvSpPr>
            <p:cNvPr id="34" name="Content Placeholder 2">
              <a:extLst>
                <a:ext uri="{FF2B5EF4-FFF2-40B4-BE49-F238E27FC236}">
                  <a16:creationId xmlns:a16="http://schemas.microsoft.com/office/drawing/2014/main" id="{8D4016E1-1D3F-1B02-8997-E68F99CE06BB}"/>
                </a:ext>
              </a:extLst>
            </p:cNvPr>
            <p:cNvSpPr txBox="1">
              <a:spLocks/>
            </p:cNvSpPr>
            <p:nvPr/>
          </p:nvSpPr>
          <p:spPr>
            <a:xfrm>
              <a:off x="9130245" y="3101936"/>
              <a:ext cx="2104747" cy="42210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b="1" noProof="0" dirty="0">
                  <a:latin typeface="Montserrat" pitchFamily="2" charset="77"/>
                </a:rPr>
                <a:t>349 519 </a:t>
              </a:r>
              <a:r>
                <a:rPr lang="pt-PT" noProof="0" dirty="0">
                  <a:latin typeface="Montserrat" pitchFamily="2" charset="77"/>
                </a:rPr>
                <a:t>registos</a:t>
              </a:r>
            </a:p>
          </p:txBody>
        </p:sp>
      </p:grpSp>
      <p:pic>
        <p:nvPicPr>
          <p:cNvPr id="51" name="Picture 50" descr="Blue letters on a black background&#10;&#10;AI-generated content may be incorrect.">
            <a:extLst>
              <a:ext uri="{FF2B5EF4-FFF2-40B4-BE49-F238E27FC236}">
                <a16:creationId xmlns:a16="http://schemas.microsoft.com/office/drawing/2014/main" id="{5F803CE9-7269-17AD-86D8-E5BB25FE4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475" y="5299445"/>
            <a:ext cx="1687048" cy="94298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C1283-D160-DA80-9A52-5DB775FE5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pt-PT" noProof="0" smtClean="0">
                <a:latin typeface="Montserrat" pitchFamily="2" charset="77"/>
              </a:rPr>
              <a:pPr/>
              <a:t>6</a:t>
            </a:fld>
            <a:endParaRPr lang="pt-PT" noProof="0" dirty="0">
              <a:latin typeface="Montserrat" pitchFamily="2" charset="77"/>
            </a:endParaRPr>
          </a:p>
        </p:txBody>
      </p:sp>
      <p:pic>
        <p:nvPicPr>
          <p:cNvPr id="49" name="Picture 48" descr="A black and orange logo&#10;&#10;AI-generated content may be incorrect.">
            <a:extLst>
              <a:ext uri="{FF2B5EF4-FFF2-40B4-BE49-F238E27FC236}">
                <a16:creationId xmlns:a16="http://schemas.microsoft.com/office/drawing/2014/main" id="{9A3FE929-6DCA-CE42-6660-F43778583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476" y="2896665"/>
            <a:ext cx="1687051" cy="942989"/>
          </a:xfrm>
          <a:prstGeom prst="rect">
            <a:avLst/>
          </a:prstGeom>
        </p:spPr>
      </p:pic>
      <p:pic>
        <p:nvPicPr>
          <p:cNvPr id="55" name="Picture 54" descr="A black and white logo&#10;&#10;AI-generated content may be incorrect.">
            <a:extLst>
              <a:ext uri="{FF2B5EF4-FFF2-40B4-BE49-F238E27FC236}">
                <a16:creationId xmlns:a16="http://schemas.microsoft.com/office/drawing/2014/main" id="{1F1E5ED3-66F1-B321-9198-AA02DD413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476" y="4101037"/>
            <a:ext cx="1687047" cy="94298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BA813-9078-5108-C2E6-AD03576DBB9A}"/>
              </a:ext>
            </a:extLst>
          </p:cNvPr>
          <p:cNvSpPr txBox="1">
            <a:spLocks/>
          </p:cNvSpPr>
          <p:nvPr/>
        </p:nvSpPr>
        <p:spPr>
          <a:xfrm>
            <a:off x="4900864" y="2353513"/>
            <a:ext cx="2390272" cy="426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PT" b="1" dirty="0">
                <a:latin typeface="Montserrat" pitchFamily="2" charset="77"/>
              </a:rPr>
              <a:t>349 519 </a:t>
            </a:r>
            <a:r>
              <a:rPr lang="pt-PT" dirty="0">
                <a:latin typeface="Montserrat" pitchFamily="2" charset="77"/>
              </a:rPr>
              <a:t>textos</a:t>
            </a:r>
            <a:endParaRPr lang="pt-PT" noProof="0" dirty="0">
              <a:latin typeface="Montserrat" pitchFamily="2" charset="77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A9051F9-2D19-6D54-C3EF-A6CCC66745B5}"/>
              </a:ext>
            </a:extLst>
          </p:cNvPr>
          <p:cNvSpPr/>
          <p:nvPr/>
        </p:nvSpPr>
        <p:spPr>
          <a:xfrm>
            <a:off x="0" y="1"/>
            <a:ext cx="12192000" cy="1538344"/>
          </a:xfrm>
          <a:prstGeom prst="rect">
            <a:avLst/>
          </a:prstGeom>
          <a:solidFill>
            <a:srgbClr val="2124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2124B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837EC8D-134B-0621-3CFC-79E448E81144}"/>
              </a:ext>
            </a:extLst>
          </p:cNvPr>
          <p:cNvSpPr txBox="1">
            <a:spLocks/>
          </p:cNvSpPr>
          <p:nvPr/>
        </p:nvSpPr>
        <p:spPr>
          <a:xfrm>
            <a:off x="432257" y="548762"/>
            <a:ext cx="10326665" cy="440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dirty="0">
                <a:solidFill>
                  <a:srgbClr val="F2F2F2"/>
                </a:solidFill>
                <a:latin typeface="Montserrat" pitchFamily="2" charset="77"/>
              </a:rPr>
              <a:t>ARQUITETURA E METODOLOGIA</a:t>
            </a:r>
            <a:endParaRPr lang="en-PT" sz="4000" dirty="0">
              <a:solidFill>
                <a:srgbClr val="F2F2F2"/>
              </a:solidFill>
              <a:latin typeface="Montserrat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2AB70BA-FEAF-DE41-8196-C60C39E4E573}"/>
              </a:ext>
            </a:extLst>
          </p:cNvPr>
          <p:cNvSpPr/>
          <p:nvPr/>
        </p:nvSpPr>
        <p:spPr>
          <a:xfrm>
            <a:off x="10209277" y="-311159"/>
            <a:ext cx="1550466" cy="1577602"/>
          </a:xfrm>
          <a:prstGeom prst="ellipse">
            <a:avLst/>
          </a:prstGeom>
          <a:solidFill>
            <a:srgbClr val="4245BE"/>
          </a:solidFill>
          <a:ln>
            <a:solidFill>
              <a:srgbClr val="424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noFill/>
            </a:endParaRPr>
          </a:p>
        </p:txBody>
      </p:sp>
      <p:pic>
        <p:nvPicPr>
          <p:cNvPr id="10" name="Imagem 9" descr="Uma imagem com Gráficos, círculo, Saturação de cores, design&#10;&#10;Os conteúdos gerados por IA podem estar incorretos.">
            <a:extLst>
              <a:ext uri="{FF2B5EF4-FFF2-40B4-BE49-F238E27FC236}">
                <a16:creationId xmlns:a16="http://schemas.microsoft.com/office/drawing/2014/main" id="{DD821FC9-B32D-5750-B24A-449D92714F2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biLevel thresh="25000"/>
            <a:alphaModFix amt="20000"/>
          </a:blip>
          <a:stretch>
            <a:fillRect/>
          </a:stretch>
        </p:blipFill>
        <p:spPr>
          <a:xfrm rot="10800000">
            <a:off x="9328834" y="-573554"/>
            <a:ext cx="1946257" cy="1946257"/>
          </a:xfrm>
          <a:prstGeom prst="rect">
            <a:avLst/>
          </a:prstGeom>
          <a:noFill/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033F20BE-ABBE-22C4-DFA0-ED1AED8820A5}"/>
              </a:ext>
            </a:extLst>
          </p:cNvPr>
          <p:cNvSpPr/>
          <p:nvPr/>
        </p:nvSpPr>
        <p:spPr>
          <a:xfrm rot="16200000">
            <a:off x="811951" y="816300"/>
            <a:ext cx="73128" cy="674616"/>
          </a:xfrm>
          <a:prstGeom prst="rect">
            <a:avLst/>
          </a:prstGeom>
          <a:solidFill>
            <a:srgbClr val="4245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4245BE"/>
              </a:solidFill>
            </a:endParaRPr>
          </a:p>
        </p:txBody>
      </p:sp>
      <p:grpSp>
        <p:nvGrpSpPr>
          <p:cNvPr id="12" name="Group 51">
            <a:extLst>
              <a:ext uri="{FF2B5EF4-FFF2-40B4-BE49-F238E27FC236}">
                <a16:creationId xmlns:a16="http://schemas.microsoft.com/office/drawing/2014/main" id="{78E523E4-AE9A-EC0B-4BEB-C58D140EAB80}"/>
              </a:ext>
            </a:extLst>
          </p:cNvPr>
          <p:cNvGrpSpPr/>
          <p:nvPr/>
        </p:nvGrpSpPr>
        <p:grpSpPr>
          <a:xfrm>
            <a:off x="441573" y="3336010"/>
            <a:ext cx="2732145" cy="2150045"/>
            <a:chOff x="441573" y="3336010"/>
            <a:chExt cx="2732145" cy="2150045"/>
          </a:xfrm>
        </p:grpSpPr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E0D2CDE4-7039-465A-7ADA-45339548A315}"/>
                </a:ext>
              </a:extLst>
            </p:cNvPr>
            <p:cNvSpPr txBox="1">
              <a:spLocks/>
            </p:cNvSpPr>
            <p:nvPr/>
          </p:nvSpPr>
          <p:spPr>
            <a:xfrm>
              <a:off x="441573" y="3336010"/>
              <a:ext cx="2732145" cy="4266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dirty="0">
                  <a:latin typeface="Montserrat" pitchFamily="2" charset="77"/>
                </a:rPr>
                <a:t>Recolha de ligações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E3CB1CE5-A6AF-4A32-0A2F-DD340E710690}"/>
                </a:ext>
              </a:extLst>
            </p:cNvPr>
            <p:cNvSpPr txBox="1">
              <a:spLocks/>
            </p:cNvSpPr>
            <p:nvPr/>
          </p:nvSpPr>
          <p:spPr>
            <a:xfrm>
              <a:off x="525458" y="3904177"/>
              <a:ext cx="2547965" cy="43294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noProof="0" dirty="0">
                  <a:latin typeface="Montserrat" pitchFamily="2" charset="77"/>
                </a:rPr>
                <a:t>Extração de texto</a:t>
              </a:r>
            </a:p>
          </p:txBody>
        </p:sp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BD6D496F-3F58-845A-C53D-F041422B8F61}"/>
                </a:ext>
              </a:extLst>
            </p:cNvPr>
            <p:cNvSpPr txBox="1">
              <a:spLocks/>
            </p:cNvSpPr>
            <p:nvPr/>
          </p:nvSpPr>
          <p:spPr>
            <a:xfrm>
              <a:off x="525458" y="4478641"/>
              <a:ext cx="2547965" cy="432949"/>
            </a:xfrm>
            <a:prstGeom prst="rect">
              <a:avLst/>
            </a:prstGeom>
            <a:solidFill>
              <a:srgbClr val="4245BE"/>
            </a:solidFill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b="1" noProof="0" dirty="0">
                  <a:solidFill>
                    <a:schemeClr val="bg1"/>
                  </a:solidFill>
                  <a:latin typeface="Montserrat" pitchFamily="2" charset="77"/>
                </a:rPr>
                <a:t>Mineração de dados</a:t>
              </a:r>
            </a:p>
          </p:txBody>
        </p:sp>
        <p:sp>
          <p:nvSpPr>
            <p:cNvPr id="16" name="Content Placeholder 2">
              <a:extLst>
                <a:ext uri="{FF2B5EF4-FFF2-40B4-BE49-F238E27FC236}">
                  <a16:creationId xmlns:a16="http://schemas.microsoft.com/office/drawing/2014/main" id="{724B1BDF-952D-5F01-CD83-F100B731B362}"/>
                </a:ext>
              </a:extLst>
            </p:cNvPr>
            <p:cNvSpPr txBox="1">
              <a:spLocks/>
            </p:cNvSpPr>
            <p:nvPr/>
          </p:nvSpPr>
          <p:spPr>
            <a:xfrm>
              <a:off x="525458" y="5053105"/>
              <a:ext cx="2547965" cy="43295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noProof="0" dirty="0">
                  <a:latin typeface="Montserrat" pitchFamily="2" charset="77"/>
                </a:rPr>
                <a:t>Lupa Digital</a:t>
              </a:r>
            </a:p>
          </p:txBody>
        </p:sp>
      </p:grpSp>
      <p:sp>
        <p:nvSpPr>
          <p:cNvPr id="2" name="Right Brace 1">
            <a:extLst>
              <a:ext uri="{FF2B5EF4-FFF2-40B4-BE49-F238E27FC236}">
                <a16:creationId xmlns:a16="http://schemas.microsoft.com/office/drawing/2014/main" id="{F2D52EF7-FA3A-A684-2A71-EA5B67D88197}"/>
              </a:ext>
            </a:extLst>
          </p:cNvPr>
          <p:cNvSpPr/>
          <p:nvPr/>
        </p:nvSpPr>
        <p:spPr>
          <a:xfrm>
            <a:off x="7634871" y="2078494"/>
            <a:ext cx="365760" cy="4218845"/>
          </a:xfrm>
          <a:prstGeom prst="rightBrace">
            <a:avLst>
              <a:gd name="adj1" fmla="val 149178"/>
              <a:gd name="adj2" fmla="val 49708"/>
            </a:avLst>
          </a:prstGeom>
          <a:ln w="12700">
            <a:solidFill>
              <a:srgbClr val="001A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84373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A5614-EDFE-04F6-F391-40BC23CEB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A green text on a black background&#10;&#10;AI-generated content may be incorrect.">
            <a:extLst>
              <a:ext uri="{FF2B5EF4-FFF2-40B4-BE49-F238E27FC236}">
                <a16:creationId xmlns:a16="http://schemas.microsoft.com/office/drawing/2014/main" id="{24EF4374-5AFA-3A2F-A7EB-45BCED885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333" y="5931842"/>
            <a:ext cx="1129331" cy="63124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70B31-2D69-4D62-DAFC-AA0CA43C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pt-PT" noProof="0" smtClean="0">
                <a:latin typeface="Montserrat" pitchFamily="2" charset="77"/>
              </a:rPr>
              <a:pPr/>
              <a:t>7</a:t>
            </a:fld>
            <a:endParaRPr lang="pt-PT" noProof="0" dirty="0">
              <a:latin typeface="Montserrat" pitchFamily="2" charset="77"/>
            </a:endParaRPr>
          </a:p>
        </p:txBody>
      </p:sp>
      <p:pic>
        <p:nvPicPr>
          <p:cNvPr id="47" name="Picture 46" descr="A blue logo with a whale and text&#10;&#10;AI-generated content may be incorrect.">
            <a:extLst>
              <a:ext uri="{FF2B5EF4-FFF2-40B4-BE49-F238E27FC236}">
                <a16:creationId xmlns:a16="http://schemas.microsoft.com/office/drawing/2014/main" id="{EF5E14D7-B8DE-BAF1-3474-1A3D3E9DE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333" y="5145108"/>
            <a:ext cx="1129331" cy="631247"/>
          </a:xfrm>
          <a:prstGeom prst="rect">
            <a:avLst/>
          </a:prstGeom>
        </p:spPr>
      </p:pic>
      <p:pic>
        <p:nvPicPr>
          <p:cNvPr id="50" name="Picture 49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25944390-18F3-62DE-4B1C-7C1F38EBC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1333" y="4358376"/>
            <a:ext cx="1129331" cy="631247"/>
          </a:xfrm>
          <a:prstGeom prst="rect">
            <a:avLst/>
          </a:prstGeom>
        </p:spPr>
      </p:pic>
      <p:pic>
        <p:nvPicPr>
          <p:cNvPr id="52" name="Picture 51" descr="A white and black logo&#10;&#10;AI-generated content may be incorrect.">
            <a:extLst>
              <a:ext uri="{FF2B5EF4-FFF2-40B4-BE49-F238E27FC236}">
                <a16:creationId xmlns:a16="http://schemas.microsoft.com/office/drawing/2014/main" id="{C41B6E09-04B4-BA8D-3DDB-648173572D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1334" y="3571644"/>
            <a:ext cx="1129330" cy="631247"/>
          </a:xfrm>
          <a:prstGeom prst="rect">
            <a:avLst/>
          </a:prstGeom>
        </p:spPr>
      </p:pic>
      <p:pic>
        <p:nvPicPr>
          <p:cNvPr id="56" name="Picture 55" descr="A black and orange logo&#10;&#10;AI-generated content may be incorrect.">
            <a:extLst>
              <a:ext uri="{FF2B5EF4-FFF2-40B4-BE49-F238E27FC236}">
                <a16:creationId xmlns:a16="http://schemas.microsoft.com/office/drawing/2014/main" id="{F862F164-21EC-0F6C-D866-C1F7BF8798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1335" y="2784912"/>
            <a:ext cx="1129330" cy="631247"/>
          </a:xfrm>
          <a:prstGeom prst="rect">
            <a:avLst/>
          </a:prstGeom>
        </p:spPr>
      </p:pic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9E061194-746C-70DE-C190-FE804CEF8B41}"/>
              </a:ext>
            </a:extLst>
          </p:cNvPr>
          <p:cNvSpPr txBox="1">
            <a:spLocks/>
          </p:cNvSpPr>
          <p:nvPr/>
        </p:nvSpPr>
        <p:spPr>
          <a:xfrm>
            <a:off x="5043020" y="2207323"/>
            <a:ext cx="2104747" cy="422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pt-PT" b="1" noProof="0" dirty="0">
                <a:latin typeface="Montserrat" pitchFamily="2" charset="77"/>
              </a:rPr>
              <a:t>349 519 </a:t>
            </a:r>
            <a:r>
              <a:rPr lang="pt-PT" noProof="0" dirty="0">
                <a:latin typeface="Montserrat" pitchFamily="2" charset="77"/>
              </a:rPr>
              <a:t>registos</a:t>
            </a:r>
          </a:p>
        </p:txBody>
      </p:sp>
      <p:pic>
        <p:nvPicPr>
          <p:cNvPr id="63" name="Picture 6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4563FA9-1C71-87B2-D82A-55C25F1668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7161" y="3949909"/>
            <a:ext cx="3033180" cy="90619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886AAF8-DF47-DB11-706E-0C438A66036B}"/>
              </a:ext>
            </a:extLst>
          </p:cNvPr>
          <p:cNvSpPr/>
          <p:nvPr/>
        </p:nvSpPr>
        <p:spPr>
          <a:xfrm>
            <a:off x="0" y="1"/>
            <a:ext cx="12192000" cy="1538344"/>
          </a:xfrm>
          <a:prstGeom prst="rect">
            <a:avLst/>
          </a:prstGeom>
          <a:solidFill>
            <a:srgbClr val="2124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2124B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F538CB3-986C-1FFB-9691-71A120C5E662}"/>
              </a:ext>
            </a:extLst>
          </p:cNvPr>
          <p:cNvSpPr txBox="1">
            <a:spLocks/>
          </p:cNvSpPr>
          <p:nvPr/>
        </p:nvSpPr>
        <p:spPr>
          <a:xfrm>
            <a:off x="432257" y="548762"/>
            <a:ext cx="10326665" cy="440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dirty="0">
                <a:solidFill>
                  <a:srgbClr val="F2F2F2"/>
                </a:solidFill>
                <a:latin typeface="Montserrat" pitchFamily="2" charset="77"/>
              </a:rPr>
              <a:t>ARQUITETURA E METODOLOGIA</a:t>
            </a:r>
            <a:endParaRPr lang="en-PT" sz="4000" dirty="0">
              <a:solidFill>
                <a:srgbClr val="F2F2F2"/>
              </a:solidFill>
              <a:latin typeface="Montserrat" pitchFamily="2" charset="77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2430A7-95D1-6BBA-5AA2-DD70E8B5A847}"/>
              </a:ext>
            </a:extLst>
          </p:cNvPr>
          <p:cNvSpPr/>
          <p:nvPr/>
        </p:nvSpPr>
        <p:spPr>
          <a:xfrm>
            <a:off x="10209277" y="-311159"/>
            <a:ext cx="1550466" cy="1577602"/>
          </a:xfrm>
          <a:prstGeom prst="ellipse">
            <a:avLst/>
          </a:prstGeom>
          <a:solidFill>
            <a:srgbClr val="4245BE"/>
          </a:solidFill>
          <a:ln>
            <a:solidFill>
              <a:srgbClr val="424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noFill/>
            </a:endParaRPr>
          </a:p>
        </p:txBody>
      </p:sp>
      <p:pic>
        <p:nvPicPr>
          <p:cNvPr id="9" name="Imagem 8" descr="Uma imagem com Gráficos, círculo, Saturação de cores, design&#10;&#10;Os conteúdos gerados por IA podem estar incorretos.">
            <a:extLst>
              <a:ext uri="{FF2B5EF4-FFF2-40B4-BE49-F238E27FC236}">
                <a16:creationId xmlns:a16="http://schemas.microsoft.com/office/drawing/2014/main" id="{DDBEC9DA-32D9-4BC4-7BE2-BD9C144235C2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biLevel thresh="25000"/>
            <a:alphaModFix amt="20000"/>
          </a:blip>
          <a:stretch>
            <a:fillRect/>
          </a:stretch>
        </p:blipFill>
        <p:spPr>
          <a:xfrm rot="10800000">
            <a:off x="9328834" y="-573554"/>
            <a:ext cx="1946257" cy="1946257"/>
          </a:xfrm>
          <a:prstGeom prst="rect">
            <a:avLst/>
          </a:prstGeom>
          <a:noFill/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A8D7D597-D49B-A6F5-C6BD-FBB25065F00F}"/>
              </a:ext>
            </a:extLst>
          </p:cNvPr>
          <p:cNvSpPr/>
          <p:nvPr/>
        </p:nvSpPr>
        <p:spPr>
          <a:xfrm rot="16200000">
            <a:off x="811951" y="816300"/>
            <a:ext cx="73128" cy="674616"/>
          </a:xfrm>
          <a:prstGeom prst="rect">
            <a:avLst/>
          </a:prstGeom>
          <a:solidFill>
            <a:srgbClr val="4245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4245BE"/>
              </a:solidFill>
            </a:endParaRPr>
          </a:p>
        </p:txBody>
      </p:sp>
      <p:grpSp>
        <p:nvGrpSpPr>
          <p:cNvPr id="11" name="Group 51">
            <a:extLst>
              <a:ext uri="{FF2B5EF4-FFF2-40B4-BE49-F238E27FC236}">
                <a16:creationId xmlns:a16="http://schemas.microsoft.com/office/drawing/2014/main" id="{412F62AD-F1C1-8EA1-D72E-3CF3C3F1459D}"/>
              </a:ext>
            </a:extLst>
          </p:cNvPr>
          <p:cNvGrpSpPr/>
          <p:nvPr/>
        </p:nvGrpSpPr>
        <p:grpSpPr>
          <a:xfrm>
            <a:off x="441573" y="3336010"/>
            <a:ext cx="2732145" cy="2150045"/>
            <a:chOff x="441573" y="3336010"/>
            <a:chExt cx="2732145" cy="2150045"/>
          </a:xfrm>
        </p:grpSpPr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6515135B-5F1B-3FAB-54CF-771D9B6FCCF2}"/>
                </a:ext>
              </a:extLst>
            </p:cNvPr>
            <p:cNvSpPr txBox="1">
              <a:spLocks/>
            </p:cNvSpPr>
            <p:nvPr/>
          </p:nvSpPr>
          <p:spPr>
            <a:xfrm>
              <a:off x="441573" y="3336010"/>
              <a:ext cx="2732145" cy="4266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dirty="0">
                  <a:latin typeface="Montserrat" pitchFamily="2" charset="77"/>
                </a:rPr>
                <a:t>Recolha de ligações</a:t>
              </a:r>
            </a:p>
          </p:txBody>
        </p:sp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31A065A8-B455-33EC-97E7-C6E9E1C303A8}"/>
                </a:ext>
              </a:extLst>
            </p:cNvPr>
            <p:cNvSpPr txBox="1">
              <a:spLocks/>
            </p:cNvSpPr>
            <p:nvPr/>
          </p:nvSpPr>
          <p:spPr>
            <a:xfrm>
              <a:off x="525458" y="3904177"/>
              <a:ext cx="2547965" cy="43294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noProof="0" dirty="0">
                  <a:latin typeface="Montserrat" pitchFamily="2" charset="77"/>
                </a:rPr>
                <a:t>Extração de texto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8E13F44D-49A9-A1C5-355A-5BDD07D8CC11}"/>
                </a:ext>
              </a:extLst>
            </p:cNvPr>
            <p:cNvSpPr txBox="1">
              <a:spLocks/>
            </p:cNvSpPr>
            <p:nvPr/>
          </p:nvSpPr>
          <p:spPr>
            <a:xfrm>
              <a:off x="525458" y="4478641"/>
              <a:ext cx="2547965" cy="43294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noProof="0" dirty="0">
                  <a:latin typeface="Montserrat" pitchFamily="2" charset="77"/>
                </a:rPr>
                <a:t>Mineração de dados</a:t>
              </a:r>
            </a:p>
          </p:txBody>
        </p:sp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2DACFECA-67E8-689F-3E95-36F5F0932267}"/>
                </a:ext>
              </a:extLst>
            </p:cNvPr>
            <p:cNvSpPr txBox="1">
              <a:spLocks/>
            </p:cNvSpPr>
            <p:nvPr/>
          </p:nvSpPr>
          <p:spPr>
            <a:xfrm>
              <a:off x="525458" y="5053105"/>
              <a:ext cx="2547965" cy="432950"/>
            </a:xfrm>
            <a:prstGeom prst="rect">
              <a:avLst/>
            </a:prstGeom>
            <a:solidFill>
              <a:srgbClr val="4245BE"/>
            </a:solidFill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b="1" noProof="0" dirty="0">
                  <a:solidFill>
                    <a:schemeClr val="bg1"/>
                  </a:solidFill>
                  <a:latin typeface="Montserrat" pitchFamily="2" charset="77"/>
                </a:rPr>
                <a:t>Lupa Digital</a:t>
              </a:r>
            </a:p>
          </p:txBody>
        </p:sp>
      </p:grpSp>
      <p:sp>
        <p:nvSpPr>
          <p:cNvPr id="2" name="Right Brace 1">
            <a:extLst>
              <a:ext uri="{FF2B5EF4-FFF2-40B4-BE49-F238E27FC236}">
                <a16:creationId xmlns:a16="http://schemas.microsoft.com/office/drawing/2014/main" id="{239A3B37-EFED-B952-41BB-0344DA2034AA}"/>
              </a:ext>
            </a:extLst>
          </p:cNvPr>
          <p:cNvSpPr/>
          <p:nvPr/>
        </p:nvSpPr>
        <p:spPr>
          <a:xfrm>
            <a:off x="7634871" y="2078494"/>
            <a:ext cx="365760" cy="4218845"/>
          </a:xfrm>
          <a:prstGeom prst="rightBrace">
            <a:avLst>
              <a:gd name="adj1" fmla="val 149178"/>
              <a:gd name="adj2" fmla="val 49708"/>
            </a:avLst>
          </a:prstGeom>
          <a:ln w="12700">
            <a:solidFill>
              <a:srgbClr val="001A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69789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860C1-E60E-E952-C9E8-E55718E6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381E3-588C-A673-0F64-3138044F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pt-PT" noProof="0" smtClean="0">
                <a:latin typeface="Montserrat" pitchFamily="2" charset="77"/>
              </a:rPr>
              <a:pPr/>
              <a:t>8</a:t>
            </a:fld>
            <a:endParaRPr lang="pt-PT" noProof="0" dirty="0">
              <a:latin typeface="Montserrat" pitchFamily="2" charset="77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E5E3DB3-7566-744D-42A8-4C289D9C391A}"/>
              </a:ext>
            </a:extLst>
          </p:cNvPr>
          <p:cNvGrpSpPr/>
          <p:nvPr/>
        </p:nvGrpSpPr>
        <p:grpSpPr>
          <a:xfrm>
            <a:off x="3551206" y="2602569"/>
            <a:ext cx="3835247" cy="3527689"/>
            <a:chOff x="3634331" y="2661944"/>
            <a:chExt cx="3835247" cy="352768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128B492-1228-F94E-8A2C-15D2563EBA10}"/>
                </a:ext>
              </a:extLst>
            </p:cNvPr>
            <p:cNvGrpSpPr/>
            <p:nvPr/>
          </p:nvGrpSpPr>
          <p:grpSpPr>
            <a:xfrm>
              <a:off x="3634331" y="2661944"/>
              <a:ext cx="3835247" cy="3168152"/>
              <a:chOff x="4631860" y="2914508"/>
              <a:chExt cx="3367644" cy="2850631"/>
            </a:xfrm>
          </p:grpSpPr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2F5B4B9-3D5C-5C84-9B5C-02058250C9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20546" y="2914508"/>
                <a:ext cx="2390272" cy="45552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312863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4313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65735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882775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pt-PT" noProof="0" dirty="0">
                    <a:latin typeface="Montserrat" pitchFamily="2" charset="77"/>
                  </a:rPr>
                  <a:t>Conjunto de dados</a:t>
                </a:r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0C9AD210-14D8-54BF-DC80-FD6C1F930D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631860" y="3321698"/>
                <a:ext cx="3367644" cy="2443441"/>
              </a:xfrm>
              <a:prstGeom prst="rect">
                <a:avLst/>
              </a:prstGeom>
            </p:spPr>
          </p:pic>
        </p:grpSp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E4BBDBC9-3039-D4E5-7D25-8F9D515A3F2F}"/>
                </a:ext>
              </a:extLst>
            </p:cNvPr>
            <p:cNvSpPr txBox="1">
              <a:spLocks/>
            </p:cNvSpPr>
            <p:nvPr/>
          </p:nvSpPr>
          <p:spPr>
            <a:xfrm>
              <a:off x="3795331" y="5796030"/>
              <a:ext cx="3513245" cy="39360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1400" dirty="0">
                  <a:hlinkClick r:id="rId3"/>
                </a:rPr>
                <a:t>doi.org/10.5281/zenodo.15231163</a:t>
              </a:r>
              <a:endParaRPr lang="pt-PT" sz="1400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A4FFF96-01B6-B290-8EBA-D0CCF914B9F2}"/>
              </a:ext>
            </a:extLst>
          </p:cNvPr>
          <p:cNvGrpSpPr/>
          <p:nvPr/>
        </p:nvGrpSpPr>
        <p:grpSpPr>
          <a:xfrm>
            <a:off x="7748169" y="2602570"/>
            <a:ext cx="3835247" cy="3527688"/>
            <a:chOff x="7831294" y="2661945"/>
            <a:chExt cx="3835247" cy="35276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A9CC365-3565-BF09-EDDF-0E8A8B68E427}"/>
                </a:ext>
              </a:extLst>
            </p:cNvPr>
            <p:cNvGrpSpPr/>
            <p:nvPr/>
          </p:nvGrpSpPr>
          <p:grpSpPr>
            <a:xfrm>
              <a:off x="7831294" y="2661945"/>
              <a:ext cx="3835247" cy="3168148"/>
              <a:chOff x="7999504" y="2914510"/>
              <a:chExt cx="3367644" cy="2850628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BC42E0F8-5BBE-61EE-F3CF-CC946B5832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99504" y="3321697"/>
                <a:ext cx="3367644" cy="2443441"/>
              </a:xfrm>
              <a:prstGeom prst="rect">
                <a:avLst/>
              </a:prstGeom>
            </p:spPr>
          </p:pic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2AB4DAB3-10AE-C9FA-854D-EEAF90297D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88188" y="2914510"/>
                <a:ext cx="2390272" cy="45552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312863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4313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65735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882775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pt-PT" noProof="0" dirty="0">
                    <a:latin typeface="Montserrat" pitchFamily="2" charset="77"/>
                  </a:rPr>
                  <a:t>Aplicação web</a:t>
                </a:r>
              </a:p>
            </p:txBody>
          </p:sp>
        </p:grp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A0ADA871-AEF8-9FA9-F401-6080EE87F6AB}"/>
                </a:ext>
              </a:extLst>
            </p:cNvPr>
            <p:cNvSpPr txBox="1">
              <a:spLocks/>
            </p:cNvSpPr>
            <p:nvPr/>
          </p:nvSpPr>
          <p:spPr>
            <a:xfrm>
              <a:off x="8387834" y="5796030"/>
              <a:ext cx="2722165" cy="39360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PT" sz="1400" dirty="0">
                  <a:hlinkClick r:id="rId5"/>
                </a:rPr>
                <a:t>lupa-digital.pt</a:t>
              </a:r>
              <a:endParaRPr lang="pt-PT" sz="1400" noProof="0" dirty="0"/>
            </a:p>
          </p:txBody>
        </p:sp>
      </p:grpSp>
      <p:sp>
        <p:nvSpPr>
          <p:cNvPr id="9" name="Retângulo 8">
            <a:extLst>
              <a:ext uri="{FF2B5EF4-FFF2-40B4-BE49-F238E27FC236}">
                <a16:creationId xmlns:a16="http://schemas.microsoft.com/office/drawing/2014/main" id="{55065B5C-437F-22CA-F5FB-DFDB93A7B2FD}"/>
              </a:ext>
            </a:extLst>
          </p:cNvPr>
          <p:cNvSpPr/>
          <p:nvPr/>
        </p:nvSpPr>
        <p:spPr>
          <a:xfrm>
            <a:off x="0" y="1"/>
            <a:ext cx="12192000" cy="1538344"/>
          </a:xfrm>
          <a:prstGeom prst="rect">
            <a:avLst/>
          </a:prstGeom>
          <a:solidFill>
            <a:srgbClr val="2124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2124B1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9D4E63-D014-5BC8-044F-C11F9481C477}"/>
              </a:ext>
            </a:extLst>
          </p:cNvPr>
          <p:cNvSpPr txBox="1">
            <a:spLocks/>
          </p:cNvSpPr>
          <p:nvPr/>
        </p:nvSpPr>
        <p:spPr>
          <a:xfrm>
            <a:off x="432257" y="548762"/>
            <a:ext cx="10326665" cy="440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dirty="0">
                <a:solidFill>
                  <a:srgbClr val="F2F2F2"/>
                </a:solidFill>
                <a:latin typeface="Montserrat" pitchFamily="2" charset="77"/>
              </a:rPr>
              <a:t>LUPA DIGITAL</a:t>
            </a:r>
            <a:endParaRPr lang="en-PT" sz="4000" dirty="0">
              <a:solidFill>
                <a:srgbClr val="F2F2F2"/>
              </a:solidFill>
              <a:latin typeface="Montserrat" pitchFamily="2" charset="77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477A7A-BC88-2B9F-0D3A-BF98D1326EB3}"/>
              </a:ext>
            </a:extLst>
          </p:cNvPr>
          <p:cNvSpPr/>
          <p:nvPr/>
        </p:nvSpPr>
        <p:spPr>
          <a:xfrm>
            <a:off x="10209277" y="-311159"/>
            <a:ext cx="1550466" cy="1577602"/>
          </a:xfrm>
          <a:prstGeom prst="ellipse">
            <a:avLst/>
          </a:prstGeom>
          <a:solidFill>
            <a:srgbClr val="4245BE"/>
          </a:solidFill>
          <a:ln>
            <a:solidFill>
              <a:srgbClr val="424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noFill/>
            </a:endParaRPr>
          </a:p>
        </p:txBody>
      </p:sp>
      <p:pic>
        <p:nvPicPr>
          <p:cNvPr id="12" name="Imagem 11" descr="Uma imagem com Gráficos, círculo, Saturação de cores, design&#10;&#10;Os conteúdos gerados por IA podem estar incorretos.">
            <a:extLst>
              <a:ext uri="{FF2B5EF4-FFF2-40B4-BE49-F238E27FC236}">
                <a16:creationId xmlns:a16="http://schemas.microsoft.com/office/drawing/2014/main" id="{5FAF7DE3-5B1F-1031-3402-B915C2D3E7A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biLevel thresh="25000"/>
            <a:alphaModFix amt="20000"/>
          </a:blip>
          <a:stretch>
            <a:fillRect/>
          </a:stretch>
        </p:blipFill>
        <p:spPr>
          <a:xfrm rot="10800000">
            <a:off x="9328834" y="-573554"/>
            <a:ext cx="1946257" cy="1946257"/>
          </a:xfrm>
          <a:prstGeom prst="rect">
            <a:avLst/>
          </a:prstGeom>
          <a:noFill/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67B6FD4A-0519-562A-BA9F-CB13C36C3A13}"/>
              </a:ext>
            </a:extLst>
          </p:cNvPr>
          <p:cNvSpPr/>
          <p:nvPr/>
        </p:nvSpPr>
        <p:spPr>
          <a:xfrm rot="16200000">
            <a:off x="871585" y="816300"/>
            <a:ext cx="73128" cy="674616"/>
          </a:xfrm>
          <a:prstGeom prst="rect">
            <a:avLst/>
          </a:prstGeom>
          <a:solidFill>
            <a:srgbClr val="4245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4245BE"/>
              </a:solidFill>
            </a:endParaRPr>
          </a:p>
        </p:txBody>
      </p:sp>
      <p:grpSp>
        <p:nvGrpSpPr>
          <p:cNvPr id="2" name="Group 51">
            <a:extLst>
              <a:ext uri="{FF2B5EF4-FFF2-40B4-BE49-F238E27FC236}">
                <a16:creationId xmlns:a16="http://schemas.microsoft.com/office/drawing/2014/main" id="{F14C3859-8330-9BA6-2383-7E7402100EB4}"/>
              </a:ext>
            </a:extLst>
          </p:cNvPr>
          <p:cNvGrpSpPr/>
          <p:nvPr/>
        </p:nvGrpSpPr>
        <p:grpSpPr>
          <a:xfrm>
            <a:off x="441573" y="3336010"/>
            <a:ext cx="2732145" cy="2150045"/>
            <a:chOff x="441573" y="3336010"/>
            <a:chExt cx="2732145" cy="2150045"/>
          </a:xfrm>
        </p:grpSpPr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CFA6EC26-6F3D-BC54-519C-F090BFD23838}"/>
                </a:ext>
              </a:extLst>
            </p:cNvPr>
            <p:cNvSpPr txBox="1">
              <a:spLocks/>
            </p:cNvSpPr>
            <p:nvPr/>
          </p:nvSpPr>
          <p:spPr>
            <a:xfrm>
              <a:off x="441573" y="3336010"/>
              <a:ext cx="2732145" cy="4266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dirty="0">
                  <a:latin typeface="Montserrat" pitchFamily="2" charset="77"/>
                </a:rPr>
                <a:t>Recolha de ligações</a:t>
              </a:r>
            </a:p>
          </p:txBody>
        </p:sp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BCC85B93-11AE-C827-132A-3CB12A89F9AA}"/>
                </a:ext>
              </a:extLst>
            </p:cNvPr>
            <p:cNvSpPr txBox="1">
              <a:spLocks/>
            </p:cNvSpPr>
            <p:nvPr/>
          </p:nvSpPr>
          <p:spPr>
            <a:xfrm>
              <a:off x="525458" y="3904177"/>
              <a:ext cx="2547965" cy="43294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noProof="0" dirty="0">
                  <a:latin typeface="Montserrat" pitchFamily="2" charset="77"/>
                </a:rPr>
                <a:t>Extração de texto</a:t>
              </a:r>
            </a:p>
          </p:txBody>
        </p:sp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892459D7-5CF5-B8F3-86A1-720C92A73E05}"/>
                </a:ext>
              </a:extLst>
            </p:cNvPr>
            <p:cNvSpPr txBox="1">
              <a:spLocks/>
            </p:cNvSpPr>
            <p:nvPr/>
          </p:nvSpPr>
          <p:spPr>
            <a:xfrm>
              <a:off x="525458" y="4478641"/>
              <a:ext cx="2547965" cy="43294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noProof="0" dirty="0">
                  <a:latin typeface="Montserrat" pitchFamily="2" charset="77"/>
                </a:rPr>
                <a:t>Mineração de dados</a:t>
              </a:r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245C534D-DCCF-BC68-B0E4-9AF79B7923E7}"/>
                </a:ext>
              </a:extLst>
            </p:cNvPr>
            <p:cNvSpPr txBox="1">
              <a:spLocks/>
            </p:cNvSpPr>
            <p:nvPr/>
          </p:nvSpPr>
          <p:spPr>
            <a:xfrm>
              <a:off x="525458" y="5053105"/>
              <a:ext cx="2547965" cy="432950"/>
            </a:xfrm>
            <a:prstGeom prst="rect">
              <a:avLst/>
            </a:prstGeom>
            <a:solidFill>
              <a:srgbClr val="4245BE"/>
            </a:solidFill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pt-PT" sz="1700" b="1" noProof="0" dirty="0">
                  <a:solidFill>
                    <a:schemeClr val="bg1"/>
                  </a:solidFill>
                  <a:latin typeface="Montserrat" pitchFamily="2" charset="77"/>
                </a:rPr>
                <a:t>Lupa Digital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355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AD160-0282-BF2B-BE92-B35964692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4859" y="918340"/>
            <a:ext cx="7400810" cy="1718303"/>
          </a:xfrm>
        </p:spPr>
        <p:txBody>
          <a:bodyPr>
            <a:noAutofit/>
          </a:bodyPr>
          <a:lstStyle/>
          <a:p>
            <a:pPr>
              <a:lnSpc>
                <a:spcPts val="2260"/>
              </a:lnSpc>
            </a:pPr>
            <a:r>
              <a:rPr lang="pt-PT" sz="1600" dirty="0">
                <a:latin typeface="Montserrat" pitchFamily="2" charset="77"/>
              </a:rPr>
              <a:t>Integração de novas fontes e atualizações com notícias recentes.</a:t>
            </a:r>
          </a:p>
          <a:p>
            <a:pPr>
              <a:lnSpc>
                <a:spcPts val="2260"/>
              </a:lnSpc>
            </a:pPr>
            <a:r>
              <a:rPr lang="pt-PT" sz="1600" dirty="0">
                <a:latin typeface="Montserrat" pitchFamily="2" charset="77"/>
              </a:rPr>
              <a:t>Estudos de viés, polarização e evolução narrativa com base em NLP.</a:t>
            </a:r>
          </a:p>
          <a:p>
            <a:pPr>
              <a:lnSpc>
                <a:spcPts val="2260"/>
              </a:lnSpc>
            </a:pPr>
            <a:r>
              <a:rPr lang="pt-PT" sz="1600" dirty="0">
                <a:latin typeface="Montserrat" pitchFamily="2" charset="77"/>
              </a:rPr>
              <a:t>Análise comparativa entre fontes e tendências editoriais.</a:t>
            </a:r>
          </a:p>
          <a:p>
            <a:pPr>
              <a:lnSpc>
                <a:spcPts val="2260"/>
              </a:lnSpc>
            </a:pPr>
            <a:r>
              <a:rPr lang="pt-PT" sz="1600" dirty="0">
                <a:latin typeface="Montserrat" pitchFamily="2" charset="77"/>
              </a:rPr>
              <a:t>Investigação do impacto de eventos históricos nas narrativas.</a:t>
            </a:r>
            <a:endParaRPr lang="en-PT" sz="1600" dirty="0">
              <a:latin typeface="Montserrat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D2120-DD51-26A7-5BDA-3D25953EA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A7A6979-0714-4377-B894-6BE4C2D6E202}" type="slidenum">
              <a:rPr lang="en-US" smtClean="0">
                <a:latin typeface="Montserrat" pitchFamily="2" charset="77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dirty="0">
              <a:latin typeface="Montserrat" pitchFamily="2" charset="77"/>
            </a:endParaRPr>
          </a:p>
        </p:txBody>
      </p:sp>
      <p:pic>
        <p:nvPicPr>
          <p:cNvPr id="6" name="Content Placeholder 7" descr="A screenshot of a computer screen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9EAB962C-CC1D-B847-F1D2-ECDEB942D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70" y="2857755"/>
            <a:ext cx="7279314" cy="3424272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54AF17E8-F693-9EB1-4AE7-F92351FB7FD7}"/>
              </a:ext>
            </a:extLst>
          </p:cNvPr>
          <p:cNvSpPr/>
          <p:nvPr/>
        </p:nvSpPr>
        <p:spPr>
          <a:xfrm rot="5400000">
            <a:off x="-1534514" y="1534514"/>
            <a:ext cx="6989864" cy="3920836"/>
          </a:xfrm>
          <a:prstGeom prst="rect">
            <a:avLst/>
          </a:prstGeom>
          <a:solidFill>
            <a:srgbClr val="2124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2124B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ADCEB91-6387-9A01-6196-3DF5879A5713}"/>
              </a:ext>
            </a:extLst>
          </p:cNvPr>
          <p:cNvSpPr txBox="1">
            <a:spLocks/>
          </p:cNvSpPr>
          <p:nvPr/>
        </p:nvSpPr>
        <p:spPr>
          <a:xfrm>
            <a:off x="432257" y="934023"/>
            <a:ext cx="10326665" cy="440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000"/>
              </a:lnSpc>
              <a:buNone/>
            </a:pPr>
            <a:r>
              <a:rPr lang="pt-PT" sz="4000" dirty="0">
                <a:solidFill>
                  <a:srgbClr val="F2F2F2"/>
                </a:solidFill>
                <a:latin typeface="Montserrat" pitchFamily="2" charset="77"/>
              </a:rPr>
              <a:t>CONJUNTO</a:t>
            </a:r>
          </a:p>
          <a:p>
            <a:pPr marL="0" indent="0">
              <a:lnSpc>
                <a:spcPts val="4000"/>
              </a:lnSpc>
              <a:buNone/>
            </a:pPr>
            <a:r>
              <a:rPr lang="pt-PT" sz="4000" dirty="0">
                <a:solidFill>
                  <a:srgbClr val="F2F2F2"/>
                </a:solidFill>
                <a:latin typeface="Montserrat" pitchFamily="2" charset="77"/>
              </a:rPr>
              <a:t>DE DADOS</a:t>
            </a:r>
            <a:endParaRPr lang="en-PT" sz="4000" dirty="0">
              <a:solidFill>
                <a:srgbClr val="F2F2F2"/>
              </a:solidFill>
              <a:latin typeface="Montserrat" pitchFamily="2" charset="77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230BAD5-EDC9-D67E-E846-4151012CFCE6}"/>
              </a:ext>
            </a:extLst>
          </p:cNvPr>
          <p:cNvSpPr/>
          <p:nvPr/>
        </p:nvSpPr>
        <p:spPr>
          <a:xfrm rot="16200000">
            <a:off x="871585" y="1461353"/>
            <a:ext cx="73128" cy="674616"/>
          </a:xfrm>
          <a:prstGeom prst="rect">
            <a:avLst/>
          </a:prstGeom>
          <a:solidFill>
            <a:srgbClr val="4245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4245BE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03B40D-8105-5631-5F99-A69D5FBACE42}"/>
              </a:ext>
            </a:extLst>
          </p:cNvPr>
          <p:cNvSpPr/>
          <p:nvPr/>
        </p:nvSpPr>
        <p:spPr>
          <a:xfrm rot="16200000">
            <a:off x="187278" y="4713193"/>
            <a:ext cx="1550466" cy="1577602"/>
          </a:xfrm>
          <a:prstGeom prst="ellipse">
            <a:avLst/>
          </a:prstGeom>
          <a:solidFill>
            <a:srgbClr val="4245BE"/>
          </a:solidFill>
          <a:ln>
            <a:solidFill>
              <a:srgbClr val="424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noFill/>
            </a:endParaRPr>
          </a:p>
        </p:txBody>
      </p:sp>
      <p:pic>
        <p:nvPicPr>
          <p:cNvPr id="14" name="Imagem 13" descr="Uma imagem com Gráficos, círculo, Saturação de cores, design&#10;&#10;Os conteúdos gerados por IA podem estar incorretos.">
            <a:extLst>
              <a:ext uri="{FF2B5EF4-FFF2-40B4-BE49-F238E27FC236}">
                <a16:creationId xmlns:a16="http://schemas.microsoft.com/office/drawing/2014/main" id="{AABF1927-38AF-8577-5419-20B7AED0117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biLevel thresh="25000"/>
            <a:alphaModFix amt="20000"/>
          </a:blip>
          <a:stretch>
            <a:fillRect/>
          </a:stretch>
        </p:blipFill>
        <p:spPr>
          <a:xfrm rot="5400000">
            <a:off x="-570579" y="4450798"/>
            <a:ext cx="1946257" cy="1946257"/>
          </a:xfrm>
          <a:prstGeom prst="rect">
            <a:avLst/>
          </a:prstGeom>
          <a:noFill/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5B25C99-4ACC-153C-AD4F-8AC1AB8EFB18}"/>
              </a:ext>
            </a:extLst>
          </p:cNvPr>
          <p:cNvSpPr txBox="1">
            <a:spLocks/>
          </p:cNvSpPr>
          <p:nvPr/>
        </p:nvSpPr>
        <p:spPr>
          <a:xfrm>
            <a:off x="4090259" y="575304"/>
            <a:ext cx="6883072" cy="7370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60"/>
              </a:lnSpc>
              <a:buNone/>
            </a:pPr>
            <a:r>
              <a:rPr lang="pt-PT" sz="1700" b="1" dirty="0">
                <a:latin typeface="Montserrat" pitchFamily="2" charset="77"/>
              </a:rPr>
              <a:t>Viabiliza:</a:t>
            </a:r>
            <a:endParaRPr lang="en-PT" sz="1700" b="1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10006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1E8F6-85C4-87D2-901C-B9B9AED9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9D68A-2EBD-AF77-47B0-A406FCF0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>
                <a:latin typeface="Montserrat" pitchFamily="2" charset="77"/>
              </a:rPr>
              <a:pPr/>
              <a:t>10</a:t>
            </a:fld>
            <a:endParaRPr lang="en-US" dirty="0">
              <a:latin typeface="Montserrat" pitchFamily="2" charset="77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369A642-9A3A-0A64-0D4B-6365C9297030}"/>
              </a:ext>
            </a:extLst>
          </p:cNvPr>
          <p:cNvSpPr/>
          <p:nvPr/>
        </p:nvSpPr>
        <p:spPr>
          <a:xfrm>
            <a:off x="0" y="1"/>
            <a:ext cx="12192000" cy="1538344"/>
          </a:xfrm>
          <a:prstGeom prst="rect">
            <a:avLst/>
          </a:prstGeom>
          <a:solidFill>
            <a:srgbClr val="2124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2124B1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14A4646-7626-AC35-5A90-29D538964E37}"/>
              </a:ext>
            </a:extLst>
          </p:cNvPr>
          <p:cNvSpPr txBox="1">
            <a:spLocks/>
          </p:cNvSpPr>
          <p:nvPr/>
        </p:nvSpPr>
        <p:spPr>
          <a:xfrm>
            <a:off x="432257" y="548762"/>
            <a:ext cx="10326665" cy="440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dirty="0">
                <a:solidFill>
                  <a:srgbClr val="F2F2F2"/>
                </a:solidFill>
                <a:latin typeface="Montserrat" pitchFamily="2" charset="77"/>
              </a:rPr>
              <a:t>APLICAÇÃO WEB</a:t>
            </a:r>
            <a:endParaRPr lang="en-PT" sz="4000" dirty="0">
              <a:solidFill>
                <a:srgbClr val="F2F2F2"/>
              </a:solidFill>
              <a:latin typeface="Montserrat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B1126C7-A5AE-214C-5002-21A2A7048E8B}"/>
              </a:ext>
            </a:extLst>
          </p:cNvPr>
          <p:cNvSpPr/>
          <p:nvPr/>
        </p:nvSpPr>
        <p:spPr>
          <a:xfrm>
            <a:off x="10209277" y="-311159"/>
            <a:ext cx="1550466" cy="1577602"/>
          </a:xfrm>
          <a:prstGeom prst="ellipse">
            <a:avLst/>
          </a:prstGeom>
          <a:solidFill>
            <a:srgbClr val="4245BE"/>
          </a:solidFill>
          <a:ln>
            <a:solidFill>
              <a:srgbClr val="424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noFill/>
            </a:endParaRPr>
          </a:p>
        </p:txBody>
      </p:sp>
      <p:pic>
        <p:nvPicPr>
          <p:cNvPr id="15" name="Imagem 14" descr="Uma imagem com Gráficos, círculo, Saturação de cores, design&#10;&#10;Os conteúdos gerados por IA podem estar incorretos.">
            <a:extLst>
              <a:ext uri="{FF2B5EF4-FFF2-40B4-BE49-F238E27FC236}">
                <a16:creationId xmlns:a16="http://schemas.microsoft.com/office/drawing/2014/main" id="{7DED0334-C901-86DA-E97B-A2CF4790938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biLevel thresh="25000"/>
            <a:alphaModFix amt="20000"/>
          </a:blip>
          <a:stretch>
            <a:fillRect/>
          </a:stretch>
        </p:blipFill>
        <p:spPr>
          <a:xfrm rot="10800000">
            <a:off x="9328834" y="-573554"/>
            <a:ext cx="1946257" cy="1946257"/>
          </a:xfrm>
          <a:prstGeom prst="rect">
            <a:avLst/>
          </a:prstGeom>
          <a:noFill/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2FD8EE94-F687-C908-AE66-84FF8BF1E9BF}"/>
              </a:ext>
            </a:extLst>
          </p:cNvPr>
          <p:cNvSpPr/>
          <p:nvPr/>
        </p:nvSpPr>
        <p:spPr>
          <a:xfrm rot="16200000">
            <a:off x="811951" y="816300"/>
            <a:ext cx="73128" cy="674616"/>
          </a:xfrm>
          <a:prstGeom prst="rect">
            <a:avLst/>
          </a:prstGeom>
          <a:solidFill>
            <a:srgbClr val="4245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4245BE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CC0639C-E338-4E4F-F257-49FC2A2633BD}"/>
              </a:ext>
            </a:extLst>
          </p:cNvPr>
          <p:cNvGrpSpPr/>
          <p:nvPr/>
        </p:nvGrpSpPr>
        <p:grpSpPr>
          <a:xfrm>
            <a:off x="1450607" y="1890504"/>
            <a:ext cx="9290786" cy="4171187"/>
            <a:chOff x="2363577" y="1946259"/>
            <a:chExt cx="9290786" cy="4171187"/>
          </a:xfrm>
        </p:grpSpPr>
        <p:pic>
          <p:nvPicPr>
            <p:cNvPr id="5" name="Picture 4">
              <a:hlinkClick r:id="rId3"/>
              <a:extLst>
                <a:ext uri="{FF2B5EF4-FFF2-40B4-BE49-F238E27FC236}">
                  <a16:creationId xmlns:a16="http://schemas.microsoft.com/office/drawing/2014/main" id="{23EE47D2-D4C0-A34F-36A8-04484F5AF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63577" y="1946259"/>
              <a:ext cx="7464846" cy="417118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CF09F47-838C-DC60-F512-51BEBC169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09081" y="5138532"/>
              <a:ext cx="1745282" cy="978914"/>
            </a:xfrm>
            <a:prstGeom prst="rect">
              <a:avLst/>
            </a:prstGeom>
          </p:spPr>
        </p:pic>
        <p:pic>
          <p:nvPicPr>
            <p:cNvPr id="31" name="Picture 30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121A9EAC-1A49-C97A-951F-E5BF2F38A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09077" y="4075161"/>
              <a:ext cx="1745285" cy="978916"/>
            </a:xfrm>
            <a:prstGeom prst="rect">
              <a:avLst/>
            </a:prstGeom>
          </p:spPr>
        </p:pic>
        <p:pic>
          <p:nvPicPr>
            <p:cNvPr id="32" name="Picture 31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DEE21C05-F7C1-2915-19BF-C12BAFE41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909081" y="3011795"/>
              <a:ext cx="1745282" cy="978914"/>
            </a:xfrm>
            <a:prstGeom prst="rect">
              <a:avLst/>
            </a:prstGeom>
          </p:spPr>
        </p:pic>
        <p:pic>
          <p:nvPicPr>
            <p:cNvPr id="9" name="Picture 8" descr="A screenshot of a blue and white website&#10;&#10;AI-generated content may be incorrect.">
              <a:extLst>
                <a:ext uri="{FF2B5EF4-FFF2-40B4-BE49-F238E27FC236}">
                  <a16:creationId xmlns:a16="http://schemas.microsoft.com/office/drawing/2014/main" id="{0A1EDFFC-FD12-F0CB-4DCA-E6D177F1C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909081" y="1948428"/>
              <a:ext cx="1745282" cy="9789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5147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74B46-36E5-AC77-B374-97DBA6CE8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4DE10-4908-5736-A60D-A00DC08F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A7A6979-0714-4377-B894-6BE4C2D6E202}" type="slidenum">
              <a:rPr lang="en-US" smtClean="0">
                <a:latin typeface="Montserrat" pitchFamily="2" charset="77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 dirty="0">
              <a:latin typeface="Montserrat" pitchFamily="2" charset="77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6D5347B-05CE-15F7-13D3-AC2DC47962C1}"/>
              </a:ext>
            </a:extLst>
          </p:cNvPr>
          <p:cNvSpPr/>
          <p:nvPr/>
        </p:nvSpPr>
        <p:spPr>
          <a:xfrm rot="5400000">
            <a:off x="-1534514" y="1534514"/>
            <a:ext cx="6989864" cy="3920836"/>
          </a:xfrm>
          <a:prstGeom prst="rect">
            <a:avLst/>
          </a:prstGeom>
          <a:solidFill>
            <a:srgbClr val="2124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2124B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F197CD-0E37-98BA-CE72-16556CF3C2C9}"/>
              </a:ext>
            </a:extLst>
          </p:cNvPr>
          <p:cNvSpPr txBox="1">
            <a:spLocks/>
          </p:cNvSpPr>
          <p:nvPr/>
        </p:nvSpPr>
        <p:spPr>
          <a:xfrm>
            <a:off x="432257" y="934023"/>
            <a:ext cx="10326665" cy="440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000"/>
              </a:lnSpc>
              <a:buNone/>
            </a:pPr>
            <a:r>
              <a:rPr lang="en-PT" sz="4000" dirty="0">
                <a:solidFill>
                  <a:srgbClr val="F2F2F2"/>
                </a:solidFill>
                <a:latin typeface="Montserrat" pitchFamily="2" charset="77"/>
              </a:rPr>
              <a:t>IMPACTO</a:t>
            </a:r>
          </a:p>
          <a:p>
            <a:pPr marL="0" indent="0">
              <a:lnSpc>
                <a:spcPts val="4000"/>
              </a:lnSpc>
              <a:buNone/>
            </a:pPr>
            <a:r>
              <a:rPr lang="en-PT" sz="4000" dirty="0">
                <a:solidFill>
                  <a:srgbClr val="F2F2F2"/>
                </a:solidFill>
                <a:latin typeface="Montserrat" pitchFamily="2" charset="77"/>
              </a:rPr>
              <a:t>SOCIAL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710B57D-3945-FEE1-AF63-71CB44C852DF}"/>
              </a:ext>
            </a:extLst>
          </p:cNvPr>
          <p:cNvSpPr/>
          <p:nvPr/>
        </p:nvSpPr>
        <p:spPr>
          <a:xfrm rot="16200000">
            <a:off x="871585" y="1461353"/>
            <a:ext cx="73128" cy="674616"/>
          </a:xfrm>
          <a:prstGeom prst="rect">
            <a:avLst/>
          </a:prstGeom>
          <a:solidFill>
            <a:srgbClr val="4245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4245BE"/>
              </a:solidFill>
            </a:endParaRPr>
          </a:p>
        </p:txBody>
      </p:sp>
      <p:pic>
        <p:nvPicPr>
          <p:cNvPr id="14" name="Imagem 13" descr="Uma imagem com Gráficos, círculo, Saturação de cores, design&#10;&#10;Os conteúdos gerados por IA podem estar incorretos.">
            <a:extLst>
              <a:ext uri="{FF2B5EF4-FFF2-40B4-BE49-F238E27FC236}">
                <a16:creationId xmlns:a16="http://schemas.microsoft.com/office/drawing/2014/main" id="{7FBB6C7A-E487-1418-3C08-CD33AAAB6C6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biLevel thresh="25000"/>
            <a:alphaModFix amt="20000"/>
          </a:blip>
          <a:stretch>
            <a:fillRect/>
          </a:stretch>
        </p:blipFill>
        <p:spPr>
          <a:xfrm rot="5400000">
            <a:off x="-570579" y="4450798"/>
            <a:ext cx="1946257" cy="1946257"/>
          </a:xfrm>
          <a:prstGeom prst="rect">
            <a:avLst/>
          </a:prstGeom>
          <a:noFill/>
        </p:spPr>
      </p:pic>
      <p:pic>
        <p:nvPicPr>
          <p:cNvPr id="2" name="Picture 1" descr="A magnifying glass with icons&#10;&#10;AI-generated content may be incorrect.">
            <a:extLst>
              <a:ext uri="{FF2B5EF4-FFF2-40B4-BE49-F238E27FC236}">
                <a16:creationId xmlns:a16="http://schemas.microsoft.com/office/drawing/2014/main" id="{37AEC98B-EC18-DD88-8F90-5371CB334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42" y="2569006"/>
            <a:ext cx="3216424" cy="3047561"/>
          </a:xfrm>
          <a:prstGeom prst="rect">
            <a:avLst/>
          </a:prstGeom>
          <a:effectLst>
            <a:glow rad="101600">
              <a:srgbClr val="4245BE">
                <a:alpha val="40000"/>
              </a:srgbClr>
            </a:glow>
          </a:effec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3F1D77F-D761-4AF0-8743-71D12A581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7716" y="1869586"/>
            <a:ext cx="7157404" cy="3263206"/>
          </a:xfrm>
        </p:spPr>
        <p:txBody>
          <a:bodyPr>
            <a:noAutofit/>
          </a:bodyPr>
          <a:lstStyle/>
          <a:p>
            <a:pPr>
              <a:lnSpc>
                <a:spcPts val="2640"/>
              </a:lnSpc>
            </a:pPr>
            <a:r>
              <a:rPr lang="pt-PT" sz="1700" dirty="0">
                <a:latin typeface="Montserrat" pitchFamily="2" charset="77"/>
              </a:rPr>
              <a:t>Acesso facilitado e visual à evolução histórica de temas, entidades e discursos na imprensa portuguesa.</a:t>
            </a:r>
          </a:p>
          <a:p>
            <a:pPr>
              <a:lnSpc>
                <a:spcPts val="2640"/>
              </a:lnSpc>
            </a:pPr>
            <a:r>
              <a:rPr lang="pt-PT" sz="1700" dirty="0">
                <a:latin typeface="Montserrat" pitchFamily="2" charset="77"/>
              </a:rPr>
              <a:t>Promoção da literacia mediática e da análise crítica do discurso jornalístico.</a:t>
            </a:r>
          </a:p>
          <a:p>
            <a:pPr>
              <a:lnSpc>
                <a:spcPts val="2640"/>
              </a:lnSpc>
            </a:pPr>
            <a:r>
              <a:rPr lang="pt-PT" sz="1700" dirty="0">
                <a:latin typeface="Montserrat" pitchFamily="2" charset="77"/>
              </a:rPr>
              <a:t>Contribuição para a sustentabilidade democrática através da transparência informacional.</a:t>
            </a:r>
          </a:p>
          <a:p>
            <a:pPr>
              <a:lnSpc>
                <a:spcPts val="2640"/>
              </a:lnSpc>
            </a:pPr>
            <a:r>
              <a:rPr lang="pt-PT" sz="1700" dirty="0">
                <a:latin typeface="Montserrat" pitchFamily="2" charset="77"/>
              </a:rPr>
              <a:t>Exploração de padrões e relações através do grafo interativo.</a:t>
            </a:r>
          </a:p>
          <a:p>
            <a:pPr>
              <a:lnSpc>
                <a:spcPts val="2640"/>
              </a:lnSpc>
            </a:pPr>
            <a:r>
              <a:rPr lang="pt-PT" sz="1700" dirty="0">
                <a:latin typeface="Montserrat" pitchFamily="2" charset="77"/>
              </a:rPr>
              <a:t>Utilidade transversal: cidadãos, estudantes, jornalistas, etc.</a:t>
            </a:r>
          </a:p>
        </p:txBody>
      </p:sp>
    </p:spTree>
    <p:extLst>
      <p:ext uri="{BB962C8B-B14F-4D97-AF65-F5344CB8AC3E}">
        <p14:creationId xmlns:p14="http://schemas.microsoft.com/office/powerpoint/2010/main" val="3370439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2CF3A-F741-5498-DAFB-19D87804C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94B8EB77-5B3E-29F4-B597-2EB2F9842A66}"/>
              </a:ext>
            </a:extLst>
          </p:cNvPr>
          <p:cNvSpPr/>
          <p:nvPr/>
        </p:nvSpPr>
        <p:spPr>
          <a:xfrm rot="5400000">
            <a:off x="6736650" y="1534514"/>
            <a:ext cx="6989864" cy="3920836"/>
          </a:xfrm>
          <a:prstGeom prst="rect">
            <a:avLst/>
          </a:prstGeom>
          <a:solidFill>
            <a:srgbClr val="2124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2124B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E0BBB-C2B5-026C-9F42-A4176F56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A7A6979-0714-4377-B894-6BE4C2D6E202}" type="slidenum">
              <a:rPr lang="en-US" smtClean="0">
                <a:latin typeface="Montserrat" pitchFamily="2" charset="77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 dirty="0">
              <a:latin typeface="Montserrat" pitchFamily="2" charset="77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D7A0DCE-8AF3-B3BD-2880-C69DA7EA6762}"/>
              </a:ext>
            </a:extLst>
          </p:cNvPr>
          <p:cNvSpPr txBox="1">
            <a:spLocks/>
          </p:cNvSpPr>
          <p:nvPr/>
        </p:nvSpPr>
        <p:spPr>
          <a:xfrm>
            <a:off x="8703421" y="934023"/>
            <a:ext cx="10326665" cy="440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000"/>
              </a:lnSpc>
              <a:buNone/>
            </a:pPr>
            <a:r>
              <a:rPr lang="pt-PT" sz="4000" dirty="0">
                <a:solidFill>
                  <a:srgbClr val="F2F2F2"/>
                </a:solidFill>
                <a:latin typeface="Montserrat" pitchFamily="2" charset="77"/>
              </a:rPr>
              <a:t>IMPACTO</a:t>
            </a:r>
          </a:p>
          <a:p>
            <a:pPr marL="0" indent="0">
              <a:lnSpc>
                <a:spcPts val="4000"/>
              </a:lnSpc>
              <a:buNone/>
            </a:pPr>
            <a:r>
              <a:rPr lang="pt-PT" sz="4000" dirty="0">
                <a:solidFill>
                  <a:srgbClr val="F2F2F2"/>
                </a:solidFill>
                <a:latin typeface="Montserrat" pitchFamily="2" charset="77"/>
              </a:rPr>
              <a:t>CIENTÍFICO</a:t>
            </a:r>
            <a:endParaRPr lang="en-PT" sz="4000" dirty="0">
              <a:solidFill>
                <a:srgbClr val="F2F2F2"/>
              </a:solidFill>
              <a:latin typeface="Montserrat" pitchFamily="2" charset="77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34E8739-174D-CE8B-DAE0-A9946D12177C}"/>
              </a:ext>
            </a:extLst>
          </p:cNvPr>
          <p:cNvSpPr/>
          <p:nvPr/>
        </p:nvSpPr>
        <p:spPr>
          <a:xfrm rot="16200000">
            <a:off x="9142749" y="1461353"/>
            <a:ext cx="73128" cy="674616"/>
          </a:xfrm>
          <a:prstGeom prst="rect">
            <a:avLst/>
          </a:prstGeom>
          <a:solidFill>
            <a:srgbClr val="4245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4245BE"/>
              </a:solidFill>
            </a:endParaRPr>
          </a:p>
        </p:txBody>
      </p:sp>
      <p:pic>
        <p:nvPicPr>
          <p:cNvPr id="14" name="Imagem 13" descr="Uma imagem com Gráficos, círculo, Saturação de cores, design&#10;&#10;Os conteúdos gerados por IA podem estar incorretos.">
            <a:extLst>
              <a:ext uri="{FF2B5EF4-FFF2-40B4-BE49-F238E27FC236}">
                <a16:creationId xmlns:a16="http://schemas.microsoft.com/office/drawing/2014/main" id="{0A0D97CA-4FAC-9F6A-4BE3-AA6C422A2D5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biLevel thresh="25000"/>
            <a:alphaModFix amt="20000"/>
          </a:blip>
          <a:stretch>
            <a:fillRect/>
          </a:stretch>
        </p:blipFill>
        <p:spPr>
          <a:xfrm rot="16200000">
            <a:off x="10830202" y="4454543"/>
            <a:ext cx="1946257" cy="1946257"/>
          </a:xfrm>
          <a:prstGeom prst="rect">
            <a:avLst/>
          </a:prstGeom>
          <a:noFill/>
        </p:spPr>
      </p:pic>
      <p:pic>
        <p:nvPicPr>
          <p:cNvPr id="8" name="Picture 7" descr="A magnifying glass with icons&#10;&#10;AI-generated content may be incorrect.">
            <a:extLst>
              <a:ext uri="{FF2B5EF4-FFF2-40B4-BE49-F238E27FC236}">
                <a16:creationId xmlns:a16="http://schemas.microsoft.com/office/drawing/2014/main" id="{BD6ABCF4-FB2F-1C92-8D34-9007BEAB218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647434" y="2569005"/>
            <a:ext cx="3216424" cy="3047561"/>
          </a:xfrm>
          <a:prstGeom prst="rect">
            <a:avLst/>
          </a:prstGeom>
          <a:effectLst>
            <a:glow rad="101600">
              <a:srgbClr val="4245BE">
                <a:alpha val="60000"/>
              </a:srgbClr>
            </a:glow>
          </a:effectLst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212B5F6-6CC2-1195-C709-8943D670F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62" y="561577"/>
            <a:ext cx="7310643" cy="3263206"/>
          </a:xfrm>
        </p:spPr>
        <p:txBody>
          <a:bodyPr>
            <a:normAutofit/>
          </a:bodyPr>
          <a:lstStyle/>
          <a:p>
            <a:pPr>
              <a:lnSpc>
                <a:spcPts val="2560"/>
              </a:lnSpc>
            </a:pPr>
            <a:r>
              <a:rPr lang="pt-PT" sz="1700" dirty="0">
                <a:latin typeface="Montserrat" pitchFamily="2" charset="77"/>
              </a:rPr>
              <a:t>Demonstração prática de uma abordagem de metajornalismo inteligente escalável.</a:t>
            </a:r>
          </a:p>
          <a:p>
            <a:pPr>
              <a:lnSpc>
                <a:spcPts val="2560"/>
              </a:lnSpc>
            </a:pPr>
            <a:r>
              <a:rPr lang="pt-PT" sz="1700" dirty="0">
                <a:latin typeface="Montserrat" pitchFamily="2" charset="77"/>
              </a:rPr>
              <a:t>Dados estruturados para estudos históricos, narrativos, de viés e enquadramento mediático.</a:t>
            </a:r>
          </a:p>
          <a:p>
            <a:pPr>
              <a:lnSpc>
                <a:spcPts val="2560"/>
              </a:lnSpc>
            </a:pPr>
            <a:r>
              <a:rPr lang="pt-PT" sz="1700" dirty="0">
                <a:latin typeface="Montserrat" pitchFamily="2" charset="77"/>
              </a:rPr>
              <a:t>Estrutura modular e de código aberto permite:</a:t>
            </a:r>
          </a:p>
          <a:p>
            <a:pPr marL="457200" lvl="2" indent="0">
              <a:lnSpc>
                <a:spcPts val="2560"/>
              </a:lnSpc>
              <a:buNone/>
            </a:pPr>
            <a:r>
              <a:rPr lang="pt-PT" sz="1400" dirty="0">
                <a:latin typeface="Montserrat" pitchFamily="2" charset="77"/>
              </a:rPr>
              <a:t>Extensão contínua do conjunto de dados;</a:t>
            </a:r>
          </a:p>
          <a:p>
            <a:pPr marL="457200" lvl="2" indent="0">
              <a:lnSpc>
                <a:spcPts val="2560"/>
              </a:lnSpc>
              <a:buNone/>
            </a:pPr>
            <a:r>
              <a:rPr lang="pt-PT" sz="1400" dirty="0">
                <a:latin typeface="Montserrat" pitchFamily="2" charset="77"/>
              </a:rPr>
              <a:t>Integração com outros sistemas de informação.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E163BD-7778-FF15-091B-3D6EE7DE9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040" y="3608496"/>
            <a:ext cx="5193686" cy="291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7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ard&#10;&#10;AI-generated content may be incorrect.">
            <a:extLst>
              <a:ext uri="{FF2B5EF4-FFF2-40B4-BE49-F238E27FC236}">
                <a16:creationId xmlns:a16="http://schemas.microsoft.com/office/drawing/2014/main" id="{8408D744-B33E-0FEF-A765-22CF35F90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15680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2035</TotalTime>
  <Words>393</Words>
  <Application>Microsoft Macintosh PowerPoint</Application>
  <PresentationFormat>Widescreen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Gill Sans MT</vt:lpstr>
      <vt:lpstr>Montserrat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C. Veríssimo</dc:creator>
  <cp:lastModifiedBy>Hugo C. Veríssimo</cp:lastModifiedBy>
  <cp:revision>236</cp:revision>
  <dcterms:created xsi:type="dcterms:W3CDTF">2025-05-24T10:50:27Z</dcterms:created>
  <dcterms:modified xsi:type="dcterms:W3CDTF">2025-05-27T14:24:04Z</dcterms:modified>
</cp:coreProperties>
</file>